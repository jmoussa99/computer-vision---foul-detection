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70" r:id="rId6"/>
    <p:sldId id="261" r:id="rId7"/>
    <p:sldId id="264" r:id="rId8"/>
    <p:sldId id="266" r:id="rId9"/>
    <p:sldId id="267" r:id="rId10"/>
    <p:sldId id="268" r:id="rId11"/>
    <p:sldId id="269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564"/>
  </p:normalViewPr>
  <p:slideViewPr>
    <p:cSldViewPr snapToGrid="0" snapToObjects="1">
      <p:cViewPr varScale="1">
        <p:scale>
          <a:sx n="115" d="100"/>
          <a:sy n="115" d="100"/>
        </p:scale>
        <p:origin x="6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8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g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62179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2900" b="1">
                <a:solidFill>
                  <a:srgbClr val="1C252B"/>
                </a:solidFill>
              </a:defRPr>
            </a:pPr>
            <a:r>
              <a:t>Football Foul Detection and Contact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078992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00" b="0">
                <a:solidFill>
                  <a:srgbClr val="57636C"/>
                </a:solidFill>
              </a:defRPr>
            </a:pPr>
            <a:r>
              <a:t>Deep VARS recognition with replay/original-view red-box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5577840" cy="1143000"/>
          </a:xfrm>
          <a:prstGeom prst="rect">
            <a:avLst/>
          </a:prstGeom>
          <a:noFill/>
        </p:spPr>
        <p:txBody>
          <a:bodyPr wrap="square" lIns="18288" rIns="18288">
            <a:normAutofit lnSpcReduction="10000"/>
          </a:bodyPr>
          <a:lstStyle/>
          <a:p>
            <a:pPr>
              <a:defRPr sz="2500" b="1">
                <a:solidFill>
                  <a:srgbClr val="1C252B"/>
                </a:solidFill>
              </a:defRPr>
            </a:pPr>
            <a:r>
              <a:t>Goal: recognize football fouls and visually show the contact moment that supports the 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154680"/>
            <a:ext cx="5440680" cy="731520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10000"/>
          </a:bodyPr>
          <a:lstStyle/>
          <a:p>
            <a:pPr>
              <a:defRPr sz="1600" b="0">
                <a:solidFill>
                  <a:srgbClr val="57636C"/>
                </a:solidFill>
              </a:defRPr>
            </a:pPr>
            <a:r>
              <a:t>This presentation uses the latest generated outputs: windowed replays + original view, challenge replays, and all rendered test videos.</a:t>
            </a:r>
          </a:p>
        </p:txBody>
      </p:sp>
      <p:pic>
        <p:nvPicPr>
          <p:cNvPr id="7" name="Picture 6" descr="abstrac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983" y="1325880"/>
            <a:ext cx="4249993" cy="4343400"/>
          </a:xfrm>
          <a:prstGeom prst="rect">
            <a:avLst/>
          </a:prstGeom>
          <a:ln w="12700">
            <a:solidFill>
              <a:srgbClr val="D5DC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10835640" y="6446520"/>
            <a:ext cx="822960" cy="2286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>
              <a:defRPr sz="900" b="0">
                <a:solidFill>
                  <a:srgbClr val="57636C"/>
                </a:solidFill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62179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2900" b="1">
                <a:solidFill>
                  <a:srgbClr val="1C252B"/>
                </a:solidFill>
              </a:defRPr>
            </a:pPr>
            <a: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078992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00" b="0">
                <a:solidFill>
                  <a:srgbClr val="57636C"/>
                </a:solidFill>
              </a:defRPr>
            </a:pPr>
            <a:r>
              <a:t>What the system should achieve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3520440" cy="39319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73152" cy="3931920"/>
          </a:xfrm>
          <a:prstGeom prst="rect">
            <a:avLst/>
          </a:prstGeom>
          <a:solidFill>
            <a:srgbClr val="255B8E"/>
          </a:solidFill>
          <a:ln>
            <a:solidFill>
              <a:srgbClr val="255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81912"/>
            <a:ext cx="310896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500" b="1">
                <a:solidFill>
                  <a:srgbClr val="255B8E"/>
                </a:solidFill>
              </a:defRPr>
            </a:pPr>
            <a:r>
              <a:t>Foul Recognition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84248"/>
            <a:ext cx="3108960" cy="324612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50" b="0">
                <a:solidFill>
                  <a:srgbClr val="1C252B"/>
                </a:solidFill>
              </a:defRPr>
            </a:pPr>
            <a:r>
              <a:t>Detect whether an action is an offence and predict severity/action class using a VARS-style multi-view video model.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1417320"/>
            <a:ext cx="3520440" cy="39319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70832" y="1417320"/>
            <a:ext cx="73152" cy="393192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9432" y="1581912"/>
            <a:ext cx="310896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500" b="1">
                <a:solidFill>
                  <a:srgbClr val="C4262E"/>
                </a:solidFill>
              </a:defRPr>
            </a:pPr>
            <a:r>
              <a:t>Visual Contact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1984248"/>
            <a:ext cx="3108960" cy="324612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50" b="0">
                <a:solidFill>
                  <a:srgbClr val="1C252B"/>
                </a:solidFill>
              </a:defRPr>
            </a:pPr>
            <a:r>
              <a:t>Render a red contact box around the likely collision/body contact so a reviewer can see why the clip was flagged.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5008" y="1417320"/>
            <a:ext cx="3520440" cy="39319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65008" y="1417320"/>
            <a:ext cx="73152" cy="3931920"/>
          </a:xfrm>
          <a:prstGeom prst="rect">
            <a:avLst/>
          </a:prstGeom>
          <a:solidFill>
            <a:srgbClr val="277C5B"/>
          </a:solidFill>
          <a:ln>
            <a:solidFill>
              <a:srgbClr val="277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3608" y="1581912"/>
            <a:ext cx="310896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500" b="1">
                <a:solidFill>
                  <a:srgbClr val="277C5B"/>
                </a:solidFill>
              </a:defRPr>
            </a:pPr>
            <a:r>
              <a:t>Body-Part Explanation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1984248"/>
            <a:ext cx="3108960" cy="324612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50" b="0">
                <a:solidFill>
                  <a:srgbClr val="1C252B"/>
                </a:solidFill>
              </a:defRPr>
            </a:pPr>
            <a:r>
              <a:t>Use pose keypoints and a body-part head to estimate whether the foul lands on upper or lower body.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35640" y="6446520"/>
            <a:ext cx="822960" cy="2286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>
              <a:defRPr sz="900" b="0">
                <a:solidFill>
                  <a:srgbClr val="57636C"/>
                </a:solidFill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62179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2900" b="1">
                <a:solidFill>
                  <a:srgbClr val="1C252B"/>
                </a:solidFill>
              </a:defRPr>
            </a:pPr>
            <a:r>
              <a:t>Approach and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078992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00" b="0">
                <a:solidFill>
                  <a:srgbClr val="57636C"/>
                </a:solidFill>
              </a:defRPr>
            </a:pPr>
            <a:r>
              <a:t>Deep-first recognition; CV/pose explanation</a:t>
            </a:r>
          </a:p>
        </p:txBody>
      </p:sp>
      <p:pic>
        <p:nvPicPr>
          <p:cNvPr id="5" name="Picture 4" descr="pipeline_mvfou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29092"/>
            <a:ext cx="5120640" cy="2531135"/>
          </a:xfrm>
          <a:prstGeom prst="rect">
            <a:avLst/>
          </a:prstGeom>
          <a:ln w="12700">
            <a:solidFill>
              <a:srgbClr val="D5DCD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172200" y="1325880"/>
            <a:ext cx="5166360" cy="3840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C252B"/>
                </a:solidFill>
              </a:defRPr>
            </a:pPr>
            <a:r>
              <a:t>VARS-style multi-view backbone predicts offence/severity/action class.</a:t>
            </a:r>
          </a:p>
          <a:p>
            <a:pPr>
              <a:spcAft>
                <a:spcPts val="700"/>
              </a:spcAft>
              <a:defRPr sz="1600">
                <a:solidFill>
                  <a:srgbClr val="1C252B"/>
                </a:solidFill>
              </a:defRPr>
            </a:pPr>
            <a:r>
              <a:t>Prediction JSON gates visualization: only predicted fouls get red-box overlays.</a:t>
            </a:r>
          </a:p>
          <a:p>
            <a:pPr>
              <a:spcAft>
                <a:spcPts val="700"/>
              </a:spcAft>
              <a:defRPr sz="1600">
                <a:solidFill>
                  <a:srgbClr val="1C252B"/>
                </a:solidFill>
              </a:defRPr>
            </a:pPr>
            <a:r>
              <a:t>View selection renders original broadcast plus replay/close-up clips for comparison.</a:t>
            </a:r>
          </a:p>
          <a:p>
            <a:pPr>
              <a:spcAft>
                <a:spcPts val="700"/>
              </a:spcAft>
              <a:defRPr sz="1600">
                <a:solidFill>
                  <a:srgbClr val="1C252B"/>
                </a:solidFill>
              </a:defRPr>
            </a:pPr>
            <a:r>
              <a:t>Pose contact localization finds the closest two-player skeleton contact around the foul window.</a:t>
            </a:r>
          </a:p>
          <a:p>
            <a:pPr>
              <a:spcAft>
                <a:spcPts val="700"/>
              </a:spcAft>
              <a:defRPr sz="1600">
                <a:solidFill>
                  <a:srgbClr val="1C252B"/>
                </a:solidFill>
              </a:defRPr>
            </a:pPr>
            <a:r>
              <a:t>The red box is windowed around the contact frame to avoid persistent false boxes.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35640" y="6446520"/>
            <a:ext cx="822960" cy="2286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>
              <a:defRPr sz="900" b="0">
                <a:solidFill>
                  <a:srgbClr val="57636C"/>
                </a:solidFill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62179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2900" b="1">
                <a:solidFill>
                  <a:srgbClr val="1C252B"/>
                </a:solidFill>
              </a:defRPr>
            </a:pPr>
            <a:r>
              <a:t>Contact Localization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078992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00" b="0">
                <a:solidFill>
                  <a:srgbClr val="57636C"/>
                </a:solidFill>
              </a:defRPr>
            </a:pPr>
            <a:r>
              <a:t>How the red box is placed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17320"/>
            <a:ext cx="3520440" cy="41605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1417320"/>
            <a:ext cx="73152" cy="4160520"/>
          </a:xfrm>
          <a:prstGeom prst="rect">
            <a:avLst/>
          </a:prstGeom>
          <a:solidFill>
            <a:srgbClr val="BC8B30"/>
          </a:solidFill>
          <a:ln>
            <a:solidFill>
              <a:srgbClr val="BC8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581912"/>
            <a:ext cx="310896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500" b="1">
                <a:solidFill>
                  <a:srgbClr val="BC8B30"/>
                </a:solidFill>
              </a:defRPr>
            </a:pPr>
            <a:r>
              <a:t>Motion and Timing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84248"/>
            <a:ext cx="3108960" cy="347472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50" b="0">
                <a:solidFill>
                  <a:srgbClr val="1C252B"/>
                </a:solidFill>
              </a:defRPr>
            </a:pPr>
            <a:r>
              <a:t>Optical flow and sampled frames identify where motion spikes occur near the foul. The contact-frame index controls when the red box appears.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417320"/>
            <a:ext cx="3520440" cy="41605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43400" y="1417320"/>
            <a:ext cx="73152" cy="4160520"/>
          </a:xfrm>
          <a:prstGeom prst="rect">
            <a:avLst/>
          </a:prstGeom>
          <a:solidFill>
            <a:srgbClr val="255B8E"/>
          </a:solidFill>
          <a:ln>
            <a:solidFill>
              <a:srgbClr val="255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1581912"/>
            <a:ext cx="310896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500" b="1">
                <a:solidFill>
                  <a:srgbClr val="255B8E"/>
                </a:solidFill>
              </a:defRPr>
            </a:pPr>
            <a:r>
              <a:t>Pose Geometry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984248"/>
            <a:ext cx="3108960" cy="347472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50" b="0">
                <a:solidFill>
                  <a:srgbClr val="1C252B"/>
                </a:solidFill>
              </a:defRPr>
            </a:pPr>
            <a:r>
              <a:t>Keypoint R-CNN detects player skeletons. The closest keypoints between two players define the contact point and the tight red box.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2440" y="1417320"/>
            <a:ext cx="3520440" cy="41605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92440" y="1417320"/>
            <a:ext cx="73152" cy="416052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21040" y="1581912"/>
            <a:ext cx="310896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500" b="1">
                <a:solidFill>
                  <a:srgbClr val="C4262E"/>
                </a:solidFill>
              </a:defRPr>
            </a:pPr>
            <a:r>
              <a:t>Body-Part Mapping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984248"/>
            <a:ext cx="3108960" cy="347472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50" b="0">
                <a:solidFill>
                  <a:srgbClr val="1C252B"/>
                </a:solidFill>
              </a:defRPr>
            </a:pPr>
            <a:r>
              <a:t>The contact point is mapped to the nearest body segment: head, shoulder, arm, torso, hip, leg, or foot; then collapsed to Upper/Under body.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35640" y="6446520"/>
            <a:ext cx="822960" cy="2286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>
              <a:defRPr sz="900" b="0">
                <a:solidFill>
                  <a:srgbClr val="57636C"/>
                </a:solidFill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DDC3C-1C6E-3749-67A1-B69A03A20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7138FD-AC77-C95B-2179-CB5B1DB61DF0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EB1C95-8D77-18E1-B4D9-5AB702BE45DA}"/>
              </a:ext>
            </a:extLst>
          </p:cNvPr>
          <p:cNvSpPr txBox="1"/>
          <p:nvPr/>
        </p:nvSpPr>
        <p:spPr>
          <a:xfrm>
            <a:off x="502920" y="320040"/>
            <a:ext cx="11064240" cy="62179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2900" b="1">
                <a:solidFill>
                  <a:srgbClr val="1C252B"/>
                </a:solidFill>
              </a:defRPr>
            </a:pPr>
            <a:r>
              <a:rPr dirty="0"/>
              <a:t>Results</a:t>
            </a:r>
            <a:r>
              <a:rPr lang="en-US" dirty="0"/>
              <a:t> – Final Video Outcome</a:t>
            </a:r>
            <a:endParaRPr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C57F9E-1255-1DA6-B33B-52C6E64DAA86}"/>
              </a:ext>
            </a:extLst>
          </p:cNvPr>
          <p:cNvSpPr txBox="1"/>
          <p:nvPr/>
        </p:nvSpPr>
        <p:spPr>
          <a:xfrm>
            <a:off x="777240" y="3977639"/>
            <a:ext cx="1060704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C252B"/>
                </a:solidFill>
              </a:defRPr>
            </a:pPr>
            <a:r>
              <a:rPr dirty="0"/>
              <a:t>Deep prediction: Offence, severity 1.0, action Standing tackling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29F31B-3F96-073E-4848-D36B111C2DA8}"/>
              </a:ext>
            </a:extLst>
          </p:cNvPr>
          <p:cNvSpPr txBox="1"/>
          <p:nvPr/>
        </p:nvSpPr>
        <p:spPr>
          <a:xfrm>
            <a:off x="10835640" y="6446520"/>
            <a:ext cx="822960" cy="2286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>
              <a:defRPr sz="900" b="0">
                <a:solidFill>
                  <a:srgbClr val="57636C"/>
                </a:solidFill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984901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62179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2900" b="1">
                <a:solidFill>
                  <a:srgbClr val="1C252B"/>
                </a:solidFill>
              </a:defRPr>
            </a:pPr>
            <a:r>
              <a:rPr dirty="0"/>
              <a:t>Results: Windowed Replay + Original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078992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00" b="0">
                <a:solidFill>
                  <a:srgbClr val="57636C"/>
                </a:solidFill>
              </a:defRPr>
            </a:pPr>
            <a:r>
              <a:t>Test action 2: original broadcast plus replay/close-up views</a:t>
            </a:r>
          </a:p>
        </p:txBody>
      </p:sp>
      <p:pic>
        <p:nvPicPr>
          <p:cNvPr id="5" name="Picture 4" descr="final_windowed_action2_replay_box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905166"/>
            <a:ext cx="1597913" cy="898826"/>
          </a:xfrm>
          <a:prstGeom prst="rect">
            <a:avLst/>
          </a:prstGeom>
          <a:ln w="12700">
            <a:solidFill>
              <a:srgbClr val="D5DCD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94360" y="3429000"/>
            <a:ext cx="1597913" cy="219456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10000"/>
          </a:bodyPr>
          <a:lstStyle/>
          <a:p>
            <a:pPr algn="ctr">
              <a:defRPr sz="950" b="0">
                <a:solidFill>
                  <a:srgbClr val="57636C"/>
                </a:solidFill>
              </a:defRPr>
            </a:pPr>
            <a:r>
              <a:t>before</a:t>
            </a:r>
          </a:p>
        </p:txBody>
      </p:sp>
      <p:pic>
        <p:nvPicPr>
          <p:cNvPr id="7" name="Picture 6" descr="final_windowed_action2_replay_box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2001" y="1905166"/>
            <a:ext cx="1597913" cy="898826"/>
          </a:xfrm>
          <a:prstGeom prst="rect">
            <a:avLst/>
          </a:prstGeom>
          <a:ln w="12700">
            <a:solidFill>
              <a:srgbClr val="D5DCD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302001" y="3429000"/>
            <a:ext cx="1597913" cy="219456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10000"/>
          </a:bodyPr>
          <a:lstStyle/>
          <a:p>
            <a:pPr algn="ctr">
              <a:defRPr sz="950" b="0">
                <a:solidFill>
                  <a:srgbClr val="57636C"/>
                </a:solidFill>
              </a:defRPr>
            </a:pPr>
            <a:r>
              <a:t>approach</a:t>
            </a:r>
          </a:p>
        </p:txBody>
      </p:sp>
      <p:pic>
        <p:nvPicPr>
          <p:cNvPr id="9" name="Picture 8" descr="final_windowed_action2_replay_box_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9644" y="1905166"/>
            <a:ext cx="1597913" cy="898826"/>
          </a:xfrm>
          <a:prstGeom prst="rect">
            <a:avLst/>
          </a:prstGeom>
          <a:ln w="12700">
            <a:solidFill>
              <a:srgbClr val="D5DCD8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009644" y="3429000"/>
            <a:ext cx="1597913" cy="219456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10000"/>
          </a:bodyPr>
          <a:lstStyle/>
          <a:p>
            <a:pPr algn="ctr">
              <a:defRPr sz="950" b="0">
                <a:solidFill>
                  <a:srgbClr val="57636C"/>
                </a:solidFill>
              </a:defRPr>
            </a:pPr>
            <a:r>
              <a:t>contact box</a:t>
            </a:r>
          </a:p>
        </p:txBody>
      </p:sp>
      <p:pic>
        <p:nvPicPr>
          <p:cNvPr id="11" name="Picture 10" descr="final_windowed_action2_replay_box_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286" y="1905166"/>
            <a:ext cx="1597913" cy="898826"/>
          </a:xfrm>
          <a:prstGeom prst="rect">
            <a:avLst/>
          </a:prstGeom>
          <a:ln w="12700">
            <a:solidFill>
              <a:srgbClr val="D5DCD8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717286" y="3429000"/>
            <a:ext cx="1597913" cy="219456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10000"/>
          </a:bodyPr>
          <a:lstStyle/>
          <a:p>
            <a:pPr algn="ctr">
              <a:defRPr sz="950" b="0">
                <a:solidFill>
                  <a:srgbClr val="57636C"/>
                </a:solidFill>
              </a:defRPr>
            </a:pPr>
            <a:r>
              <a:t>after</a:t>
            </a:r>
          </a:p>
        </p:txBody>
      </p:sp>
      <p:pic>
        <p:nvPicPr>
          <p:cNvPr id="13" name="Picture 12" descr="final_window_original_contac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0" y="1441608"/>
            <a:ext cx="1783080" cy="1002982"/>
          </a:xfrm>
          <a:prstGeom prst="rect">
            <a:avLst/>
          </a:prstGeom>
          <a:ln w="12700">
            <a:solidFill>
              <a:srgbClr val="D5DCD8"/>
            </a:solidFill>
          </a:ln>
        </p:spPr>
      </p:pic>
      <p:pic>
        <p:nvPicPr>
          <p:cNvPr id="14" name="Picture 13" descr="final_window_replay_contac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6920" y="1441608"/>
            <a:ext cx="1783080" cy="1002982"/>
          </a:xfrm>
          <a:prstGeom prst="rect">
            <a:avLst/>
          </a:prstGeom>
          <a:ln w="12700">
            <a:solidFill>
              <a:srgbClr val="D5DCD8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7635240" y="2651760"/>
            <a:ext cx="1783080" cy="228600"/>
          </a:xfrm>
          <a:prstGeom prst="rect">
            <a:avLst/>
          </a:prstGeom>
          <a:noFill/>
        </p:spPr>
        <p:txBody>
          <a:bodyPr wrap="square" lIns="18288" rIns="18288">
            <a:normAutofit lnSpcReduction="10000"/>
          </a:bodyPr>
          <a:lstStyle/>
          <a:p>
            <a:pPr algn="ctr">
              <a:defRPr sz="1000" b="0">
                <a:solidFill>
                  <a:srgbClr val="57636C"/>
                </a:solidFill>
              </a:defRPr>
            </a:pPr>
            <a:r>
              <a:t>Original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2651760"/>
            <a:ext cx="1783080" cy="228600"/>
          </a:xfrm>
          <a:prstGeom prst="rect">
            <a:avLst/>
          </a:prstGeom>
          <a:noFill/>
        </p:spPr>
        <p:txBody>
          <a:bodyPr wrap="square" lIns="18288" rIns="18288">
            <a:normAutofit lnSpcReduction="10000"/>
          </a:bodyPr>
          <a:lstStyle/>
          <a:p>
            <a:pPr algn="ctr">
              <a:defRPr sz="1000" b="0">
                <a:solidFill>
                  <a:srgbClr val="57636C"/>
                </a:solidFill>
              </a:defRPr>
            </a:pPr>
            <a:r>
              <a:t>Replay close-up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977639"/>
            <a:ext cx="1060704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C252B"/>
                </a:solidFill>
              </a:defRPr>
            </a:pPr>
            <a:r>
              <a:rPr dirty="0"/>
              <a:t>Deep prediction: Offence, severity 1.0, action Standing tackling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35640" y="6446520"/>
            <a:ext cx="822960" cy="2286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>
              <a:defRPr sz="900" b="0">
                <a:solidFill>
                  <a:srgbClr val="57636C"/>
                </a:solidFill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62179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2900" b="1">
                <a:solidFill>
                  <a:srgbClr val="1C252B"/>
                </a:solidFill>
              </a:defRPr>
            </a:pPr>
            <a:r>
              <a:t>Results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078992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00" b="0">
                <a:solidFill>
                  <a:srgbClr val="57636C"/>
                </a:solidFill>
              </a:defRPr>
            </a:pPr>
            <a:r>
              <a:t>Body-part recognition and rendered outputs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874519" cy="9601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1581912"/>
            <a:ext cx="1874519" cy="320040"/>
          </a:xfrm>
          <a:prstGeom prst="rect">
            <a:avLst/>
          </a:prstGeom>
          <a:noFill/>
        </p:spPr>
        <p:txBody>
          <a:bodyPr wrap="square" lIns="18288" rIns="18288">
            <a:normAutofit fontScale="70000" lnSpcReduction="20000"/>
          </a:bodyPr>
          <a:lstStyle/>
          <a:p>
            <a:pPr algn="ctr">
              <a:defRPr sz="2400" b="1">
                <a:solidFill>
                  <a:srgbClr val="255B8E"/>
                </a:solidFill>
              </a:defRPr>
            </a:pPr>
            <a:r>
              <a:t>350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29968"/>
            <a:ext cx="1691640" cy="228600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10000"/>
          </a:bodyPr>
          <a:lstStyle/>
          <a:p>
            <a:pPr algn="ctr">
              <a:defRPr sz="1050" b="0">
                <a:solidFill>
                  <a:srgbClr val="57636C"/>
                </a:solidFill>
              </a:defRPr>
            </a:pPr>
            <a:r>
              <a:t>rendered Test clips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8920" y="1417320"/>
            <a:ext cx="1874519" cy="9601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88920" y="1581912"/>
            <a:ext cx="1874519" cy="320040"/>
          </a:xfrm>
          <a:prstGeom prst="rect">
            <a:avLst/>
          </a:prstGeom>
          <a:noFill/>
        </p:spPr>
        <p:txBody>
          <a:bodyPr wrap="square" lIns="18288" rIns="18288">
            <a:normAutofit fontScale="70000" lnSpcReduction="20000"/>
          </a:bodyPr>
          <a:lstStyle/>
          <a:p>
            <a:pPr algn="ctr">
              <a:defRPr sz="2400" b="1">
                <a:solidFill>
                  <a:srgbClr val="255B8E"/>
                </a:solidFill>
              </a:defRPr>
            </a:pPr>
            <a:r>
              <a:t>159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029968"/>
            <a:ext cx="1691640" cy="228600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10000"/>
          </a:bodyPr>
          <a:lstStyle/>
          <a:p>
            <a:pPr algn="ctr">
              <a:defRPr sz="1050" b="0">
                <a:solidFill>
                  <a:srgbClr val="57636C"/>
                </a:solidFill>
              </a:defRPr>
            </a:pPr>
            <a:r>
              <a:t>Test actions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46320" y="1417320"/>
            <a:ext cx="1874519" cy="9601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0" y="1581912"/>
            <a:ext cx="1874519" cy="320040"/>
          </a:xfrm>
          <a:prstGeom prst="rect">
            <a:avLst/>
          </a:prstGeom>
          <a:noFill/>
        </p:spPr>
        <p:txBody>
          <a:bodyPr wrap="square" lIns="18288" rIns="18288">
            <a:normAutofit fontScale="70000" lnSpcReduction="20000"/>
          </a:bodyPr>
          <a:lstStyle/>
          <a:p>
            <a:pPr algn="ctr">
              <a:defRPr sz="2400" b="1">
                <a:solidFill>
                  <a:srgbClr val="C4262E"/>
                </a:solidFill>
              </a:defRPr>
            </a:pPr>
            <a:r>
              <a:t>46.8%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691640" cy="228600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10000"/>
          </a:bodyPr>
          <a:lstStyle/>
          <a:p>
            <a:pPr algn="ctr">
              <a:defRPr sz="1050" b="0">
                <a:solidFill>
                  <a:srgbClr val="57636C"/>
                </a:solidFill>
              </a:defRPr>
            </a:pPr>
            <a:r>
              <a:t>pose/CV coarse acc.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03720" y="1417320"/>
            <a:ext cx="1874519" cy="9601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03720" y="1581912"/>
            <a:ext cx="1874519" cy="320040"/>
          </a:xfrm>
          <a:prstGeom prst="rect">
            <a:avLst/>
          </a:prstGeom>
          <a:noFill/>
        </p:spPr>
        <p:txBody>
          <a:bodyPr wrap="square" lIns="18288" rIns="18288">
            <a:normAutofit fontScale="70000" lnSpcReduction="20000"/>
          </a:bodyPr>
          <a:lstStyle/>
          <a:p>
            <a:pPr algn="ctr">
              <a:defRPr sz="2400" b="1">
                <a:solidFill>
                  <a:srgbClr val="277C5B"/>
                </a:solidFill>
              </a:defRPr>
            </a:pPr>
            <a:r>
              <a:t>71.5%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59" y="2029968"/>
            <a:ext cx="1691640" cy="228600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10000"/>
          </a:bodyPr>
          <a:lstStyle/>
          <a:p>
            <a:pPr algn="ctr">
              <a:defRPr sz="1050" b="0">
                <a:solidFill>
                  <a:srgbClr val="57636C"/>
                </a:solidFill>
              </a:defRPr>
            </a:pPr>
            <a:r>
              <a:t>deep body-part acc.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417320"/>
            <a:ext cx="1874519" cy="9601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0" y="1581912"/>
            <a:ext cx="1874519" cy="320040"/>
          </a:xfrm>
          <a:prstGeom prst="rect">
            <a:avLst/>
          </a:prstGeom>
          <a:noFill/>
        </p:spPr>
        <p:txBody>
          <a:bodyPr wrap="square" lIns="18288" rIns="18288">
            <a:normAutofit fontScale="70000" lnSpcReduction="20000"/>
          </a:bodyPr>
          <a:lstStyle/>
          <a:p>
            <a:pPr algn="ctr">
              <a:defRPr sz="2400" b="1">
                <a:solidFill>
                  <a:srgbClr val="BC8B30"/>
                </a:solidFill>
              </a:defRPr>
            </a:pPr>
            <a:r>
              <a:t>158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029968"/>
            <a:ext cx="1691640" cy="228600"/>
          </a:xfrm>
          <a:prstGeom prst="rect">
            <a:avLst/>
          </a:prstGeom>
          <a:noFill/>
        </p:spPr>
        <p:txBody>
          <a:bodyPr wrap="square" lIns="18288" rIns="18288">
            <a:normAutofit fontScale="92500" lnSpcReduction="10000"/>
          </a:bodyPr>
          <a:lstStyle/>
          <a:p>
            <a:pPr algn="ctr">
              <a:defRPr sz="1050" b="0">
                <a:solidFill>
                  <a:srgbClr val="57636C"/>
                </a:solidFill>
              </a:defRPr>
            </a:pPr>
            <a:r>
              <a:t>labelled samples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880360"/>
            <a:ext cx="3383280" cy="23317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2880360"/>
            <a:ext cx="73152" cy="2331720"/>
          </a:xfrm>
          <a:prstGeom prst="rect">
            <a:avLst/>
          </a:prstGeom>
          <a:solidFill>
            <a:srgbClr val="255B8E"/>
          </a:solidFill>
          <a:ln>
            <a:solidFill>
              <a:srgbClr val="255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3044952"/>
            <a:ext cx="297180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500" b="1">
                <a:solidFill>
                  <a:srgbClr val="255B8E"/>
                </a:solidFill>
              </a:defRPr>
            </a:pPr>
            <a:r>
              <a:t>Small Windowed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447288"/>
            <a:ext cx="2971800" cy="1645919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50" b="0">
                <a:solidFill>
                  <a:srgbClr val="1C252B"/>
                </a:solidFill>
              </a:defRPr>
            </a:pPr>
            <a:r>
              <a:t>60% pose/CV and 80% deep body-part accuracy on 5 labelled examples.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2880360"/>
            <a:ext cx="3383280" cy="23317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434840" y="2880360"/>
            <a:ext cx="73152" cy="233172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3440" y="3044952"/>
            <a:ext cx="297180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500" b="1">
                <a:solidFill>
                  <a:srgbClr val="C4262E"/>
                </a:solidFill>
              </a:defRPr>
            </a:pPr>
            <a:r>
              <a:t>Full Test Pattern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3447288"/>
            <a:ext cx="2971800" cy="1645919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50" b="0">
                <a:solidFill>
                  <a:srgbClr val="1C252B"/>
                </a:solidFill>
              </a:defRPr>
            </a:pPr>
            <a:r>
              <a:t>Pose/CV over-predicts Upper body: many Under-body fouls are mapped to arm/head/torso when wide views or occlusion confuse the nearest-keypoint contact.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2880360"/>
            <a:ext cx="3383280" cy="23317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092440" y="2880360"/>
            <a:ext cx="73152" cy="2331720"/>
          </a:xfrm>
          <a:prstGeom prst="rect">
            <a:avLst/>
          </a:prstGeom>
          <a:solidFill>
            <a:srgbClr val="277C5B"/>
          </a:solidFill>
          <a:ln>
            <a:solidFill>
              <a:srgbClr val="277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21040" y="3044952"/>
            <a:ext cx="297180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500" b="1">
                <a:solidFill>
                  <a:srgbClr val="277C5B"/>
                </a:solidFill>
              </a:defRPr>
            </a:pPr>
            <a:r>
              <a:t>Deep Head Pattern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447288"/>
            <a:ext cx="2971800" cy="1645919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50" b="0">
                <a:solidFill>
                  <a:srgbClr val="1C252B"/>
                </a:solidFill>
              </a:defRPr>
            </a:pPr>
            <a:r>
              <a:t>The deep body-part head is stronger overall, especially for Under-body labels, but it still confuses some Upper-body examples.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35640" y="6446520"/>
            <a:ext cx="822960" cy="2286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>
              <a:defRPr sz="900" b="0">
                <a:solidFill>
                  <a:srgbClr val="57636C"/>
                </a:solidFill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62179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2900" b="1">
                <a:solidFill>
                  <a:srgbClr val="1C252B"/>
                </a:solidFill>
              </a:defRPr>
            </a:pPr>
            <a:r>
              <a:t>Limitations of Bird's-Eye / Wide 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078992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00" b="0">
                <a:solidFill>
                  <a:srgbClr val="57636C"/>
                </a:solidFill>
              </a:defRPr>
            </a:pPr>
            <a:r>
              <a:t>Why the original broadcast view is weaker for contact proof</a:t>
            </a:r>
          </a:p>
        </p:txBody>
      </p:sp>
      <p:pic>
        <p:nvPicPr>
          <p:cNvPr id="5" name="Picture 4" descr="final_bird_original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38738"/>
            <a:ext cx="5074920" cy="2854642"/>
          </a:xfrm>
          <a:prstGeom prst="rect">
            <a:avLst/>
          </a:prstGeom>
          <a:ln w="12700">
            <a:solidFill>
              <a:srgbClr val="D5DCD8"/>
            </a:solidFill>
          </a:ln>
        </p:spPr>
      </p:pic>
      <p:pic>
        <p:nvPicPr>
          <p:cNvPr id="6" name="Picture 5" descr="final_bird_replay_contac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38738"/>
            <a:ext cx="5074920" cy="2854642"/>
          </a:xfrm>
          <a:prstGeom prst="rect">
            <a:avLst/>
          </a:prstGeom>
          <a:ln w="12700">
            <a:solidFill>
              <a:srgbClr val="D5DCD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85800" y="4315968"/>
            <a:ext cx="5074920" cy="256032"/>
          </a:xfrm>
          <a:prstGeom prst="rect">
            <a:avLst/>
          </a:prstGeom>
          <a:noFill/>
        </p:spPr>
        <p:txBody>
          <a:bodyPr wrap="square" lIns="18288" rIns="18288">
            <a:normAutofit lnSpcReduction="10000"/>
          </a:bodyPr>
          <a:lstStyle/>
          <a:p>
            <a:pPr algn="ctr">
              <a:defRPr sz="1200" b="1">
                <a:solidFill>
                  <a:srgbClr val="255B8E"/>
                </a:solidFill>
              </a:defRPr>
            </a:pPr>
            <a:r>
              <a:t>Wide original / bird’s-eye-like view: strong context, weak body detail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4315968"/>
            <a:ext cx="5074920" cy="256032"/>
          </a:xfrm>
          <a:prstGeom prst="rect">
            <a:avLst/>
          </a:prstGeom>
          <a:noFill/>
        </p:spPr>
        <p:txBody>
          <a:bodyPr wrap="square" lIns="18288" rIns="18288">
            <a:normAutofit lnSpcReduction="10000"/>
          </a:bodyPr>
          <a:lstStyle/>
          <a:p>
            <a:pPr algn="ctr">
              <a:defRPr sz="1200" b="1">
                <a:solidFill>
                  <a:srgbClr val="C4262E"/>
                </a:solidFill>
              </a:defRPr>
            </a:pPr>
            <a:r>
              <a:t>Replay close-up: weaker context, stronger contact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46320"/>
            <a:ext cx="10424160" cy="9601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1C252B"/>
                </a:solidFill>
              </a:defRPr>
            </a:pPr>
            <a:r>
              <a:t>Players occupy few pixels, so pose keypoints are noisy and small limb contacts are easy to miss.</a:t>
            </a:r>
          </a:p>
          <a:p>
            <a:pPr>
              <a:spcAft>
                <a:spcPts val="700"/>
              </a:spcAft>
              <a:defRPr sz="1400">
                <a:solidFill>
                  <a:srgbClr val="1C252B"/>
                </a:solidFill>
              </a:defRPr>
            </a:pPr>
            <a:r>
              <a:t>Perspective compression and occlusion make the closest visible keypoint differ from the actual contact point.</a:t>
            </a:r>
          </a:p>
          <a:p>
            <a:pPr>
              <a:spcAft>
                <a:spcPts val="700"/>
              </a:spcAft>
              <a:defRPr sz="1400">
                <a:solidFill>
                  <a:srgbClr val="1C252B"/>
                </a:solidFill>
              </a:defRPr>
            </a:pPr>
            <a:r>
              <a:t>The wide view helps foul recognition context, but it should not be the only visual proof for body-part/contact localization.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6446520"/>
            <a:ext cx="822960" cy="2286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>
              <a:defRPr sz="900" b="0">
                <a:solidFill>
                  <a:srgbClr val="57636C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62179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2900" b="1">
                <a:solidFill>
                  <a:srgbClr val="1C252B"/>
                </a:solidFill>
              </a:defRPr>
            </a:pPr>
            <a:r>
              <a:t>Current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078992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00" b="0">
                <a:solidFill>
                  <a:srgbClr val="57636C"/>
                </a:solidFill>
              </a:defRPr>
            </a:pPr>
            <a:r>
              <a:t>What still fails and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3520440" cy="406908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73152" cy="406908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581912"/>
            <a:ext cx="310896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500" b="1">
                <a:solidFill>
                  <a:srgbClr val="C4262E"/>
                </a:solidFill>
              </a:defRPr>
            </a:pPr>
            <a:r>
              <a:t>Localization Noise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984248"/>
            <a:ext cx="3108960" cy="338328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50" b="0">
                <a:solidFill>
                  <a:srgbClr val="1C252B"/>
                </a:solidFill>
              </a:defRPr>
            </a:pPr>
            <a:r>
              <a:t>Pose can snap to a nearby visible arm/head when the true lower-body contact is occluded or too small.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1417320"/>
            <a:ext cx="3520440" cy="406908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70832" y="1417320"/>
            <a:ext cx="73152" cy="4069080"/>
          </a:xfrm>
          <a:prstGeom prst="rect">
            <a:avLst/>
          </a:prstGeom>
          <a:solidFill>
            <a:srgbClr val="BC8B30"/>
          </a:solidFill>
          <a:ln>
            <a:solidFill>
              <a:srgbClr val="BC8B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9432" y="1581912"/>
            <a:ext cx="310896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500" b="1">
                <a:solidFill>
                  <a:srgbClr val="BC8B30"/>
                </a:solidFill>
              </a:defRPr>
            </a:pPr>
            <a:r>
              <a:t>Model vs Explanation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1984248"/>
            <a:ext cx="3108960" cy="338328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50" b="0">
                <a:solidFill>
                  <a:srgbClr val="1C252B"/>
                </a:solidFill>
              </a:defRPr>
            </a:pPr>
            <a:r>
              <a:t>The VARS model predicts the foul, while the red box is an explanation layer; the box is not yet learned end-to-end from foul labels.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5008" y="1417320"/>
            <a:ext cx="3520440" cy="406908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65008" y="1417320"/>
            <a:ext cx="73152" cy="4069080"/>
          </a:xfrm>
          <a:prstGeom prst="rect">
            <a:avLst/>
          </a:prstGeom>
          <a:solidFill>
            <a:srgbClr val="255B8E"/>
          </a:solidFill>
          <a:ln>
            <a:solidFill>
              <a:srgbClr val="255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93608" y="1581912"/>
            <a:ext cx="310896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500" b="1">
                <a:solidFill>
                  <a:srgbClr val="255B8E"/>
                </a:solidFill>
              </a:defRPr>
            </a:pPr>
            <a:r>
              <a:t>Evaluation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1984248"/>
            <a:ext cx="3108960" cy="338328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50" b="0">
                <a:solidFill>
                  <a:srgbClr val="1C252B"/>
                </a:solidFill>
              </a:defRPr>
            </a:pPr>
            <a:r>
              <a:t>Challenge outputs are qualitative. Test body-part accuracy is coarse and does not fully score contact-box spatial correctness.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35640" y="6446520"/>
            <a:ext cx="822960" cy="2286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>
              <a:defRPr sz="900" b="0">
                <a:solidFill>
                  <a:srgbClr val="57636C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62179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2900" b="1">
                <a:solidFill>
                  <a:srgbClr val="1C252B"/>
                </a:solidFill>
              </a:defRPr>
            </a:pPr>
            <a:r>
              <a:t>One-Month Improvement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078992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00" b="0">
                <a:solidFill>
                  <a:srgbClr val="57636C"/>
                </a:solidFill>
              </a:defRPr>
            </a:pPr>
            <a:r>
              <a:t>Highest-impact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534924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C252B"/>
                </a:solidFill>
              </a:defRPr>
            </a:pPr>
            <a:r>
              <a:t>Train/evaluate on the full GPU dataset and report official SoccerNet offence/severity/action metrics together with body-part metrics.</a:t>
            </a:r>
          </a:p>
          <a:p>
            <a:pPr>
              <a:spcAft>
                <a:spcPts val="700"/>
              </a:spcAft>
              <a:defRPr sz="1600">
                <a:solidFill>
                  <a:srgbClr val="1C252B"/>
                </a:solidFill>
              </a:defRPr>
            </a:pPr>
            <a:r>
              <a:t>Tune view selection: automatically rank replay/close-up views by player scale and pose confidence.</a:t>
            </a:r>
          </a:p>
          <a:p>
            <a:pPr>
              <a:spcAft>
                <a:spcPts val="700"/>
              </a:spcAft>
              <a:defRPr sz="1600">
                <a:solidFill>
                  <a:srgbClr val="1C252B"/>
                </a:solidFill>
              </a:defRPr>
            </a:pPr>
            <a:r>
              <a:t>Track pose across time instead of detecting each frame independently, so contact boxes are smoother and less jittery.</a:t>
            </a:r>
          </a:p>
          <a:p>
            <a:pPr>
              <a:spcAft>
                <a:spcPts val="700"/>
              </a:spcAft>
              <a:defRPr sz="1600">
                <a:solidFill>
                  <a:srgbClr val="1C252B"/>
                </a:solidFill>
              </a:defRPr>
            </a:pPr>
            <a:r>
              <a:t>Use the deep body-part head to guide or veto pose boxes when pose predicts upper body but the model predicts lower body.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520" y="1325880"/>
            <a:ext cx="4983480" cy="4480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1C252B"/>
                </a:solidFill>
              </a:defRPr>
            </a:pPr>
            <a:r>
              <a:t>Add quantitative box evaluation with a small manually labelled contact-point set.</a:t>
            </a:r>
          </a:p>
          <a:p>
            <a:pPr>
              <a:spcAft>
                <a:spcPts val="700"/>
              </a:spcAft>
              <a:defRPr sz="1600">
                <a:solidFill>
                  <a:srgbClr val="1C252B"/>
                </a:solidFill>
              </a:defRPr>
            </a:pPr>
            <a:r>
              <a:t>Use temporal smoothing across the foul window and fuse all available views before selecting the final contact frame.</a:t>
            </a:r>
          </a:p>
          <a:p>
            <a:pPr>
              <a:spcAft>
                <a:spcPts val="700"/>
              </a:spcAft>
              <a:defRPr sz="1600">
                <a:solidFill>
                  <a:srgbClr val="1C252B"/>
                </a:solidFill>
              </a:defRPr>
            </a:pPr>
            <a:r>
              <a:t>Improve bird’s-eye handling with zoomed player crops, super-resolution, or detector-guided crop tracking.</a:t>
            </a:r>
          </a:p>
          <a:p>
            <a:pPr>
              <a:spcAft>
                <a:spcPts val="700"/>
              </a:spcAft>
              <a:defRPr sz="1600">
                <a:solidFill>
                  <a:srgbClr val="1C252B"/>
                </a:solidFill>
              </a:defRPr>
            </a:pPr>
            <a:r>
              <a:t>Integrate the final videos into the VARS interface for side-by-side original/replay review.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35640" y="6446520"/>
            <a:ext cx="822960" cy="2286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>
              <a:defRPr sz="900" b="0">
                <a:solidFill>
                  <a:srgbClr val="57636C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064240" cy="621792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2900" b="1">
                <a:solidFill>
                  <a:srgbClr val="1C252B"/>
                </a:solidFill>
              </a:defRPr>
            </a:pPr>
            <a:r>
              <a:t>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41832"/>
            <a:ext cx="1078992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00" b="0">
                <a:solidFill>
                  <a:srgbClr val="57636C"/>
                </a:solidFill>
              </a:defRPr>
            </a:pPr>
            <a:r>
              <a:t>What the project now demonstrates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9144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ctr">
              <a:defRPr sz="2400" b="1">
                <a:solidFill>
                  <a:srgbClr val="1C252B"/>
                </a:solidFill>
              </a:defRPr>
            </a:pPr>
            <a:r>
              <a:t>The pipeline detects fouls with the VARS baseline and produces replay-aware, windowed red-box videos that make the contact moment visually inspectable.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154680"/>
            <a:ext cx="320040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3154680"/>
            <a:ext cx="73152" cy="1417320"/>
          </a:xfrm>
          <a:prstGeom prst="rect">
            <a:avLst/>
          </a:prstGeom>
          <a:solidFill>
            <a:srgbClr val="277C5B"/>
          </a:solidFill>
          <a:ln>
            <a:solidFill>
              <a:srgbClr val="277C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3319272"/>
            <a:ext cx="278892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500" b="1">
                <a:solidFill>
                  <a:srgbClr val="277C5B"/>
                </a:solidFill>
              </a:defRPr>
            </a:pPr>
            <a:r>
              <a:t>Best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721608"/>
            <a:ext cx="2788920" cy="73152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50" b="0">
                <a:solidFill>
                  <a:srgbClr val="1C252B"/>
                </a:solidFill>
              </a:defRPr>
            </a:pPr>
            <a:r>
              <a:t>Replay/close-up views are the clearest for contact localization.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3154680"/>
            <a:ext cx="320040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80560" y="3154680"/>
            <a:ext cx="73152" cy="1417320"/>
          </a:xfrm>
          <a:prstGeom prst="rect">
            <a:avLst/>
          </a:prstGeom>
          <a:solidFill>
            <a:srgbClr val="255B8E"/>
          </a:solidFill>
          <a:ln>
            <a:solidFill>
              <a:srgbClr val="255B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09160" y="3319272"/>
            <a:ext cx="278892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500" b="1">
                <a:solidFill>
                  <a:srgbClr val="255B8E"/>
                </a:solidFill>
              </a:defRPr>
            </a:pPr>
            <a:r>
              <a:t>Best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3721608"/>
            <a:ext cx="2788920" cy="73152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50" b="0">
                <a:solidFill>
                  <a:srgbClr val="1C252B"/>
                </a:solidFill>
              </a:defRPr>
            </a:pPr>
            <a:r>
              <a:t>Original wide views explain play dynamics but are limited for body contact.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154680"/>
            <a:ext cx="3200400" cy="1417320"/>
          </a:xfrm>
          <a:prstGeom prst="rect">
            <a:avLst/>
          </a:prstGeom>
          <a:solidFill>
            <a:srgbClr val="FFFFFF"/>
          </a:solidFill>
          <a:ln>
            <a:solidFill>
              <a:srgbClr val="E0E6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3154680"/>
            <a:ext cx="73152" cy="1417320"/>
          </a:xfrm>
          <a:prstGeom prst="rect">
            <a:avLst/>
          </a:prstGeom>
          <a:solidFill>
            <a:srgbClr val="C4262E"/>
          </a:solidFill>
          <a:ln>
            <a:solidFill>
              <a:srgbClr val="C426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20" y="3319272"/>
            <a:ext cx="2788920" cy="32004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500" b="1">
                <a:solidFill>
                  <a:srgbClr val="C4262E"/>
                </a:solidFill>
              </a:defRPr>
            </a:pPr>
            <a:r>
              <a:t>Best next step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721608"/>
            <a:ext cx="2788920" cy="73152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>
              <a:defRPr sz="1350" b="0">
                <a:solidFill>
                  <a:srgbClr val="1C252B"/>
                </a:solidFill>
              </a:defRPr>
            </a:pPr>
            <a:r>
              <a:t>Fuse deep predictions, pose tracks, and view ranking over the full dataset.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35640" y="6446520"/>
            <a:ext cx="822960" cy="228600"/>
          </a:xfrm>
          <a:prstGeom prst="rect">
            <a:avLst/>
          </a:prstGeom>
          <a:noFill/>
        </p:spPr>
        <p:txBody>
          <a:bodyPr wrap="square" lIns="18288" rIns="18288">
            <a:normAutofit/>
          </a:bodyPr>
          <a:lstStyle/>
          <a:p>
            <a:pPr algn="r">
              <a:defRPr sz="900" b="0">
                <a:solidFill>
                  <a:srgbClr val="57636C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</TotalTime>
  <Words>870</Words>
  <Application>Microsoft Macintosh PowerPoint</Application>
  <PresentationFormat>Widescreen</PresentationFormat>
  <Paragraphs>101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Jamal Omar Moussa</cp:lastModifiedBy>
  <cp:revision>3</cp:revision>
  <dcterms:created xsi:type="dcterms:W3CDTF">2013-01-27T09:14:16Z</dcterms:created>
  <dcterms:modified xsi:type="dcterms:W3CDTF">2026-06-03T22:44:57Z</dcterms:modified>
  <cp:category/>
</cp:coreProperties>
</file>