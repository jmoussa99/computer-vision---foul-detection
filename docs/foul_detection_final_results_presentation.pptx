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Football Foul Detection and Contact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Deep VARS recognition with replay/original-view red-box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577840" cy="11430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500" b="1">
                <a:solidFill>
                  <a:srgbClr val="1C252B"/>
                </a:solidFill>
              </a:defRPr>
            </a:pPr>
            <a:r>
              <a:t>Goal: recognize football fouls and visually show the contact moment that supports the 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54680"/>
            <a:ext cx="5440680" cy="7315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600" b="0">
                <a:solidFill>
                  <a:srgbClr val="57636C"/>
                </a:solidFill>
              </a:defRPr>
            </a:pPr>
            <a:r>
              <a:t>This presentation uses the latest generated outputs: windowed replays + original view, challenge replays, and all rendered test videos.</a:t>
            </a:r>
          </a:p>
        </p:txBody>
      </p:sp>
      <p:pic>
        <p:nvPicPr>
          <p:cNvPr id="7" name="Picture 6" descr="abstrac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983" y="1325880"/>
            <a:ext cx="4249993" cy="4343400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What the system should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52044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93192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Foul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108960" cy="32461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Detect whether an action is an offence and predict severity/action class using a VARS-style multi-view video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352044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73152" cy="393192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C4262E"/>
                </a:solidFill>
              </a:defRPr>
            </a:pPr>
            <a:r>
              <a:t>Visual Contact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3108960" cy="32461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Render a red contact box around the likely collision/body contact so a reviewer can see why the clip was flagged.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352044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3931920"/>
          </a:xfrm>
          <a:prstGeom prst="rect">
            <a:avLst/>
          </a:prstGeom>
          <a:solidFill>
            <a:srgbClr val="277C5B"/>
          </a:solidFill>
          <a:ln>
            <a:solidFill>
              <a:srgbClr val="27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77C5B"/>
                </a:solidFill>
              </a:defRPr>
            </a:pPr>
            <a:r>
              <a:t>Body-Part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3108960" cy="32461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Use pose keypoints and a body-part head to estimate whether the foul lands on upper or lower body.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Outputs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The deck is built from these generated result folders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35204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434340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Windowed Test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3108960" cy="3657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`foul_bodypart_replays_plus_original_windowed`</a:t>
            </a:r>
          </a:p>
          <a:p>
            <a:pPr>
              <a:defRPr sz="1350" b="0">
                <a:solidFill>
                  <a:srgbClr val="1C252B"/>
                </a:solidFill>
              </a:defRPr>
            </a:pPr>
            <a:r>
              <a:t>5 Test actions, 13 rendered clips. Includes original broadcast view plus replay/close-up views; red box appears only near the detected contact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5204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4343400"/>
          </a:xfrm>
          <a:prstGeom prst="rect">
            <a:avLst/>
          </a:prstGeom>
          <a:solidFill>
            <a:srgbClr val="BC8B30"/>
          </a:solidFill>
          <a:ln>
            <a:solidFill>
              <a:srgbClr val="B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BC8B30"/>
                </a:solidFill>
              </a:defRPr>
            </a:pPr>
            <a:r>
              <a:t>Challenge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38528"/>
            <a:ext cx="3108960" cy="3657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`foul_bodypart_replays_plus_original_windowed_chall`</a:t>
            </a:r>
          </a:p>
          <a:p>
            <a:pPr>
              <a:defRPr sz="1350" b="0">
                <a:solidFill>
                  <a:srgbClr val="1C252B"/>
                </a:solidFill>
              </a:defRPr>
            </a:pPr>
            <a:r>
              <a:t>5 Challenge actions, 12 rendered clips. No ground-truth body-part labels, so this is qualitative inspection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35204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73152" cy="4343400"/>
          </a:xfrm>
          <a:prstGeom prst="rect">
            <a:avLst/>
          </a:prstGeom>
          <a:solidFill>
            <a:srgbClr val="277C5B"/>
          </a:solidFill>
          <a:ln>
            <a:solidFill>
              <a:srgbClr val="27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3619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77C5B"/>
                </a:solidFill>
              </a:defRPr>
            </a:pPr>
            <a:r>
              <a:t>Test All Videos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38528"/>
            <a:ext cx="3108960" cy="3657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`foul_bodypart_test_all_videos`</a:t>
            </a:r>
          </a:p>
          <a:p>
            <a:pPr>
              <a:defRPr sz="1350" b="0">
                <a:solidFill>
                  <a:srgbClr val="1C252B"/>
                </a:solidFill>
              </a:defRPr>
            </a:pPr>
            <a:r>
              <a:t>159 Test actions, 350 rendered clips. This is the main quantitative body-part/contact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Approach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Deep-first recognition; CV/pose explanation</a:t>
            </a:r>
          </a:p>
        </p:txBody>
      </p:sp>
      <p:pic>
        <p:nvPicPr>
          <p:cNvPr id="5" name="Picture 4" descr="pipeline_mvfo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9092"/>
            <a:ext cx="5120640" cy="2531135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172200" y="1325880"/>
            <a:ext cx="516636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VARS-style multi-view backbone predicts offence/severity/action class.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Prediction JSON gates visualization: only predicted fouls get red-box overlays.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View selection renders original broadcast plus replay/close-up clips for comparison.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Pose contact localization finds the closest two-player skeleton contact around the foul window.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The red box is windowed around the contact frame to avoid persistent false boxes.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Contact Localization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How the red box is placed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35204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160520"/>
          </a:xfrm>
          <a:prstGeom prst="rect">
            <a:avLst/>
          </a:prstGeom>
          <a:solidFill>
            <a:srgbClr val="BC8B30"/>
          </a:solidFill>
          <a:ln>
            <a:solidFill>
              <a:srgbClr val="B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BC8B30"/>
                </a:solidFill>
              </a:defRPr>
            </a:pPr>
            <a:r>
              <a:t>Motion and Timing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3108960" cy="34747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Optical flow and sampled frames identify where motion spikes occur near the foul. The contact-frame index controls when the red box appears.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35204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416052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Pose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108960" cy="34747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Keypoint R-CNN detects player skeletons. The closest keypoints between two players define the contact point and the tight red box.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352044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416052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C4262E"/>
                </a:solidFill>
              </a:defRPr>
            </a:pPr>
            <a:r>
              <a:t>Body-Part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3108960" cy="34747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The contact point is mapped to the nearest body segment: head, shoulder, arm, torso, hip, leg, or foot; then collapsed to Upper/Under body.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Results: Windowed Replay +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Test action 2: original broadcast plus replay/close-up views</a:t>
            </a:r>
          </a:p>
        </p:txBody>
      </p:sp>
      <p:pic>
        <p:nvPicPr>
          <p:cNvPr id="5" name="Picture 4" descr="final_windowed_action2_replay_box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0516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3429000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before</a:t>
            </a:r>
          </a:p>
        </p:txBody>
      </p:sp>
      <p:pic>
        <p:nvPicPr>
          <p:cNvPr id="7" name="Picture 6" descr="final_windowed_action2_replay_box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01" y="190516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302001" y="3429000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approach</a:t>
            </a:r>
          </a:p>
        </p:txBody>
      </p:sp>
      <p:pic>
        <p:nvPicPr>
          <p:cNvPr id="9" name="Picture 8" descr="final_windowed_action2_replay_box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644" y="190516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009644" y="3429000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contact box</a:t>
            </a:r>
          </a:p>
        </p:txBody>
      </p:sp>
      <p:pic>
        <p:nvPicPr>
          <p:cNvPr id="11" name="Picture 10" descr="final_windowed_action2_replay_box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286" y="190516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717286" y="3429000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after</a:t>
            </a:r>
          </a:p>
        </p:txBody>
      </p:sp>
      <p:pic>
        <p:nvPicPr>
          <p:cNvPr id="13" name="Picture 12" descr="final_window_original_contac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441608"/>
            <a:ext cx="1783080" cy="1002982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pic>
        <p:nvPicPr>
          <p:cNvPr id="14" name="Picture 13" descr="final_window_replay_contac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1441608"/>
            <a:ext cx="1783080" cy="1002982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635240" y="2651760"/>
            <a:ext cx="178308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00" b="0">
                <a:solidFill>
                  <a:srgbClr val="57636C"/>
                </a:solidFill>
              </a:defRPr>
            </a:pPr>
            <a:r>
              <a:t>Original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651760"/>
            <a:ext cx="178308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00" b="0">
                <a:solidFill>
                  <a:srgbClr val="57636C"/>
                </a:solidFill>
              </a:defRPr>
            </a:pPr>
            <a:r>
              <a:t>Replay close-up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60704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Deep prediction: Offence, severity 1.0, action Standing tackling.</a:t>
            </a:r>
          </a:p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Windowed output: 13 clips from 5 Test actions, including 5 original views and 8 replay views.</a:t>
            </a:r>
          </a:p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The replay view gives clearer body contact; the original view provides tactical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Results: Challenge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Challenge action 0: qualitative output without labels</a:t>
            </a:r>
          </a:p>
        </p:txBody>
      </p:sp>
      <p:pic>
        <p:nvPicPr>
          <p:cNvPr id="5" name="Picture 4" descr="final_chall_action0_box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before</a:t>
            </a:r>
          </a:p>
        </p:txBody>
      </p:sp>
      <p:pic>
        <p:nvPicPr>
          <p:cNvPr id="7" name="Picture 6" descr="final_chall_action0_box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01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302001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approach</a:t>
            </a:r>
          </a:p>
        </p:txBody>
      </p:sp>
      <p:pic>
        <p:nvPicPr>
          <p:cNvPr id="9" name="Picture 8" descr="final_chall_action0_box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644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009644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contact box</a:t>
            </a:r>
          </a:p>
        </p:txBody>
      </p:sp>
      <p:pic>
        <p:nvPicPr>
          <p:cNvPr id="11" name="Picture 10" descr="final_chall_action0_box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286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717286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after</a:t>
            </a:r>
          </a:p>
        </p:txBody>
      </p:sp>
      <p:pic>
        <p:nvPicPr>
          <p:cNvPr id="13" name="Picture 12" descr="final_chall_contac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1461611"/>
            <a:ext cx="3337560" cy="1877377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77240" y="4069080"/>
            <a:ext cx="104241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Challenge output has 12 rendered clips from 5 actions; body-part evaluation is unavailable because the challenge labels are hidden.</a:t>
            </a:r>
          </a:p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Example prediction: High leg, severity 3.0; pose contact maps to head / Upper body.</a:t>
            </a:r>
          </a:p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This output is useful for visual inspection and submission review, not metric reporting.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Results: Test-All-Videos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Test action 33: all selected videos rendered</a:t>
            </a:r>
          </a:p>
        </p:txBody>
      </p:sp>
      <p:pic>
        <p:nvPicPr>
          <p:cNvPr id="5" name="Picture 4" descr="final_test_action33_box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before</a:t>
            </a:r>
          </a:p>
        </p:txBody>
      </p:sp>
      <p:pic>
        <p:nvPicPr>
          <p:cNvPr id="7" name="Picture 6" descr="final_test_action33_box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001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302001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approach</a:t>
            </a:r>
          </a:p>
        </p:txBody>
      </p:sp>
      <p:pic>
        <p:nvPicPr>
          <p:cNvPr id="9" name="Picture 8" descr="final_test_action33_box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644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009644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contact box</a:t>
            </a:r>
          </a:p>
        </p:txBody>
      </p:sp>
      <p:pic>
        <p:nvPicPr>
          <p:cNvPr id="11" name="Picture 10" descr="final_test_action33_box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286" y="1950886"/>
            <a:ext cx="1597913" cy="898826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717286" y="3520439"/>
            <a:ext cx="1597913" cy="219456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950" b="0">
                <a:solidFill>
                  <a:srgbClr val="57636C"/>
                </a:solidFill>
              </a:defRPr>
            </a:pPr>
            <a:r>
              <a:t>after</a:t>
            </a:r>
          </a:p>
        </p:txBody>
      </p:sp>
      <p:pic>
        <p:nvPicPr>
          <p:cNvPr id="13" name="Picture 12" descr="final_test_contac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1461611"/>
            <a:ext cx="3337560" cy="1877377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77240" y="4069080"/>
            <a:ext cx="104241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The full Test rendering produced 350 clips from 159 actions.</a:t>
            </a:r>
          </a:p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Example prediction: Elbowing, severity 1.0; contact mapped to arm / Upper body.</a:t>
            </a:r>
          </a:p>
          <a:p>
            <a:pPr>
              <a:spcAft>
                <a:spcPts val="700"/>
              </a:spcAft>
              <a:defRPr sz="1500">
                <a:solidFill>
                  <a:srgbClr val="1C252B"/>
                </a:solidFill>
              </a:defRPr>
            </a:pPr>
            <a:r>
              <a:t>The red-box-only video is cleaner for result sequences; the pose/body-part still image explains why the box was placed there.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Body-part recognition and rendered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81912"/>
            <a:ext cx="1874519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2400" b="1">
                <a:solidFill>
                  <a:srgbClr val="255B8E"/>
                </a:solidFill>
              </a:defRPr>
            </a:pPr>
            <a:r>
              <a:t>350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169164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50" b="0">
                <a:solidFill>
                  <a:srgbClr val="57636C"/>
                </a:solidFill>
              </a:defRPr>
            </a:pPr>
            <a:r>
              <a:t>rendered Test clips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81912"/>
            <a:ext cx="1874519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2400" b="1">
                <a:solidFill>
                  <a:srgbClr val="255B8E"/>
                </a:solidFill>
              </a:defRPr>
            </a:pPr>
            <a:r>
              <a:t>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029968"/>
            <a:ext cx="169164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50" b="0">
                <a:solidFill>
                  <a:srgbClr val="57636C"/>
                </a:solidFill>
              </a:defRPr>
            </a:pPr>
            <a:r>
              <a:t>Test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81912"/>
            <a:ext cx="1874519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2400" b="1">
                <a:solidFill>
                  <a:srgbClr val="C4262E"/>
                </a:solidFill>
              </a:defRPr>
            </a:pPr>
            <a:r>
              <a:t>46.8%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029968"/>
            <a:ext cx="169164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50" b="0">
                <a:solidFill>
                  <a:srgbClr val="57636C"/>
                </a:solidFill>
              </a:defRPr>
            </a:pPr>
            <a:r>
              <a:t>pose/CV coarse acc.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581912"/>
            <a:ext cx="1874519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2400" b="1">
                <a:solidFill>
                  <a:srgbClr val="277C5B"/>
                </a:solidFill>
              </a:defRPr>
            </a:pPr>
            <a:r>
              <a:t>71.5%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029968"/>
            <a:ext cx="169164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50" b="0">
                <a:solidFill>
                  <a:srgbClr val="57636C"/>
                </a:solidFill>
              </a:defRPr>
            </a:pPr>
            <a:r>
              <a:t>deep body-part acc.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581912"/>
            <a:ext cx="1874519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2400" b="1">
                <a:solidFill>
                  <a:srgbClr val="BC8B30"/>
                </a:solidFill>
              </a:defRPr>
            </a:pPr>
            <a:r>
              <a:t>158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029968"/>
            <a:ext cx="169164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050" b="0">
                <a:solidFill>
                  <a:srgbClr val="57636C"/>
                </a:solidFill>
              </a:defRPr>
            </a:pPr>
            <a:r>
              <a:t>labelled samples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880360"/>
            <a:ext cx="338328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2880360"/>
            <a:ext cx="73152" cy="233172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044952"/>
            <a:ext cx="297180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Small Windowed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447288"/>
            <a:ext cx="2971800" cy="1645919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60% pose/CV and 80% deep body-part accuracy on 5 labelled examples.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880360"/>
            <a:ext cx="338328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880360"/>
            <a:ext cx="73152" cy="233172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044952"/>
            <a:ext cx="297180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C4262E"/>
                </a:solidFill>
              </a:defRPr>
            </a:pPr>
            <a:r>
              <a:t>Full Test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447288"/>
            <a:ext cx="2971800" cy="1645919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Pose/CV over-predicts Upper body: many Under-body fouls are mapped to arm/head/torso when wide views or occlusion confuse the nearest-keypoint contact.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880360"/>
            <a:ext cx="338328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2880360"/>
            <a:ext cx="73152" cy="2331720"/>
          </a:xfrm>
          <a:prstGeom prst="rect">
            <a:avLst/>
          </a:prstGeom>
          <a:solidFill>
            <a:srgbClr val="277C5B"/>
          </a:solidFill>
          <a:ln>
            <a:solidFill>
              <a:srgbClr val="27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044952"/>
            <a:ext cx="297180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77C5B"/>
                </a:solidFill>
              </a:defRPr>
            </a:pPr>
            <a:r>
              <a:t>Deep Head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447288"/>
            <a:ext cx="2971800" cy="1645919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The deep body-part head is stronger overall, especially for Under-body labels, but it still confuses some Upper-body examples.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Results: View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Original broadcast and replay views are both rendered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400" b="1">
                <a:solidFill>
                  <a:srgbClr val="1C252B"/>
                </a:solidFill>
              </a:defRPr>
            </a:pPr>
            <a:r>
              <a:t>Original broadcast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554480"/>
            <a:ext cx="5852160" cy="320040"/>
          </a:xfrm>
          <a:prstGeom prst="rect">
            <a:avLst/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1554480"/>
            <a:ext cx="3826412" cy="32004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554480"/>
            <a:ext cx="1005840" cy="2743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400" b="1">
                <a:solidFill>
                  <a:srgbClr val="255B8E"/>
                </a:solidFill>
              </a:defRPr>
            </a:pPr>
            <a:r>
              <a:t>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400" b="1">
                <a:solidFill>
                  <a:srgbClr val="1C252B"/>
                </a:solidFill>
              </a:defRPr>
            </a:pPr>
            <a:r>
              <a:t>Replay close-up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377440"/>
            <a:ext cx="5852160" cy="320040"/>
          </a:xfrm>
          <a:prstGeom prst="rect">
            <a:avLst/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377440"/>
            <a:ext cx="5852160" cy="32004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377440"/>
            <a:ext cx="1005840" cy="2743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400" b="1">
                <a:solidFill>
                  <a:srgbClr val="C4262E"/>
                </a:solidFill>
              </a:defRPr>
            </a:pPr>
            <a:r>
              <a:t>208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194560" cy="2743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400" b="1">
                <a:solidFill>
                  <a:srgbClr val="1C252B"/>
                </a:solidFill>
              </a:defRPr>
            </a:pPr>
            <a:r>
              <a:t>Other replay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200400"/>
            <a:ext cx="5852160" cy="320040"/>
          </a:xfrm>
          <a:prstGeom prst="rect">
            <a:avLst/>
          </a:prstGeom>
          <a:solidFill>
            <a:srgbClr val="E7EBE7"/>
          </a:solidFill>
          <a:ln>
            <a:solidFill>
              <a:srgbClr val="E7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3200400"/>
            <a:ext cx="168812" cy="320040"/>
          </a:xfrm>
          <a:prstGeom prst="rect">
            <a:avLst/>
          </a:prstGeom>
          <a:solidFill>
            <a:srgbClr val="BC8B30"/>
          </a:solidFill>
          <a:ln>
            <a:solidFill>
              <a:srgbClr val="B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200400"/>
            <a:ext cx="1005840" cy="2743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400" b="1">
                <a:solidFill>
                  <a:srgbClr val="BC8B30"/>
                </a:solidFill>
              </a:defRPr>
            </a:pPr>
            <a: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51960"/>
            <a:ext cx="32918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251960"/>
            <a:ext cx="73152" cy="132588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416552"/>
            <a:ext cx="28803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Why include original?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18888"/>
            <a:ext cx="2880360" cy="64008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It gives global context: player run-up, challenge type, speed, and tactical situation.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4251960"/>
            <a:ext cx="32918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4251960"/>
            <a:ext cx="73152" cy="132588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16552"/>
            <a:ext cx="28803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C4262E"/>
                </a:solidFill>
              </a:defRPr>
            </a:pPr>
            <a:r>
              <a:t>Why include replay?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18888"/>
            <a:ext cx="2880360" cy="64008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It gives body-level evidence: clearer limbs, less distance, and better contact inspection.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251960"/>
            <a:ext cx="32918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251960"/>
            <a:ext cx="73152" cy="1325880"/>
          </a:xfrm>
          <a:prstGeom prst="rect">
            <a:avLst/>
          </a:prstGeom>
          <a:solidFill>
            <a:srgbClr val="277C5B"/>
          </a:solidFill>
          <a:ln>
            <a:solidFill>
              <a:srgbClr val="27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416552"/>
            <a:ext cx="28803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77C5B"/>
                </a:solidFill>
              </a:defRPr>
            </a:pPr>
            <a:r>
              <a:t>Why window the box?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818888"/>
            <a:ext cx="2880360" cy="64008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The red box appears near contact only, making the sequence less noisy and easier to present.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Limitations of Bird's-Eye / Wide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Why the original broadcast view is weaker for contact proof</a:t>
            </a:r>
          </a:p>
        </p:txBody>
      </p:sp>
      <p:pic>
        <p:nvPicPr>
          <p:cNvPr id="5" name="Picture 4" descr="final_bird_original_cont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8738"/>
            <a:ext cx="5074920" cy="2854642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pic>
        <p:nvPicPr>
          <p:cNvPr id="6" name="Picture 5" descr="final_bird_replay_conta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38738"/>
            <a:ext cx="5074920" cy="2854642"/>
          </a:xfrm>
          <a:prstGeom prst="rect">
            <a:avLst/>
          </a:prstGeom>
          <a:ln w="12700">
            <a:solidFill>
              <a:srgbClr val="D5DCD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" y="4315968"/>
            <a:ext cx="5074920" cy="25603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200" b="1">
                <a:solidFill>
                  <a:srgbClr val="255B8E"/>
                </a:solidFill>
              </a:defRPr>
            </a:pPr>
            <a:r>
              <a:t>Wide original / bird’s-eye-like view: strong context, weak body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4315968"/>
            <a:ext cx="5074920" cy="25603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1200" b="1">
                <a:solidFill>
                  <a:srgbClr val="C4262E"/>
                </a:solidFill>
              </a:defRPr>
            </a:pPr>
            <a:r>
              <a:t>Replay close-up: weaker context, stronger contact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4241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252B"/>
                </a:solidFill>
              </a:defRPr>
            </a:pPr>
            <a:r>
              <a:t>Players occupy few pixels, so pose keypoints are noisy and small limb contacts are easy to miss.</a:t>
            </a:r>
          </a:p>
          <a:p>
            <a:pPr>
              <a:spcAft>
                <a:spcPts val="700"/>
              </a:spcAft>
              <a:defRPr sz="1400">
                <a:solidFill>
                  <a:srgbClr val="1C252B"/>
                </a:solidFill>
              </a:defRPr>
            </a:pPr>
            <a:r>
              <a:t>Perspective compression and occlusion make the closest visible keypoint differ from the actual contact point.</a:t>
            </a:r>
          </a:p>
          <a:p>
            <a:pPr>
              <a:spcAft>
                <a:spcPts val="700"/>
              </a:spcAft>
              <a:defRPr sz="1400">
                <a:solidFill>
                  <a:srgbClr val="1C252B"/>
                </a:solidFill>
              </a:defRPr>
            </a:pPr>
            <a:r>
              <a:t>The wide view helps foul recognition context, but it should not be the only visual proof for body-part/contact localization.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What still fails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52044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C4262E"/>
                </a:solidFill>
              </a:defRPr>
            </a:pPr>
            <a:r>
              <a:t>Localization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108960" cy="338328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Pose can snap to a nearby visible arm/head when the true lower-body contact is occluded or too small.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352044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73152" cy="4069080"/>
          </a:xfrm>
          <a:prstGeom prst="rect">
            <a:avLst/>
          </a:prstGeom>
          <a:solidFill>
            <a:srgbClr val="BC8B30"/>
          </a:solidFill>
          <a:ln>
            <a:solidFill>
              <a:srgbClr val="BC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BC8B30"/>
                </a:solidFill>
              </a:defRPr>
            </a:pPr>
            <a:r>
              <a:t>Model vs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3108960" cy="338328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The VARS model predicts the foul, while the red box is an explanation layer; the box is not yet learned end-to-end from foul labels.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352044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406908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310896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Evaluation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3108960" cy="338328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Challenge outputs are qualitative. Test body-part accuracy is coarse and does not fully score contact-box spatial correctness.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One-Month Improvement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Highest-impact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34924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Train/evaluate on the full GPU dataset and report official SoccerNet offence/severity/action metrics together with body-part metrics.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Tune view selection: automatically rank replay/close-up views by player scale and pose confidence.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Track pose across time instead of detecting each frame independently, so contact boxes are smoother and less jittery.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Use the deep body-part head to guide or veto pose boxes when pose predicts upper body but the model predicts lower body.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325880"/>
            <a:ext cx="49834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Add quantitative box evaluation with a small manually labelled contact-point set.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Use temporal smoothing across the foul window and fuse all available views before selecting the final contact frame.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Improve bird’s-eye handling with zoomed player crops, super-resolution, or detector-guided crop tracking.</a:t>
            </a:r>
          </a:p>
          <a:p>
            <a:pPr>
              <a:spcAft>
                <a:spcPts val="700"/>
              </a:spcAft>
              <a:defRPr sz="1600">
                <a:solidFill>
                  <a:srgbClr val="1C252B"/>
                </a:solidFill>
              </a:defRPr>
            </a:pPr>
            <a:r>
              <a:t>Integrate the final videos into the VARS interface for side-by-side original/replay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621792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2900" b="1">
                <a:solidFill>
                  <a:srgbClr val="1C252B"/>
                </a:solidFill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789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00" b="0">
                <a:solidFill>
                  <a:srgbClr val="57636C"/>
                </a:solidFill>
              </a:defRPr>
            </a:pPr>
            <a:r>
              <a:t>What the project now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ctr">
              <a:defRPr sz="2400" b="1">
                <a:solidFill>
                  <a:srgbClr val="1C252B"/>
                </a:solidFill>
              </a:defRPr>
            </a:pPr>
            <a:r>
              <a:t>The pipeline detects fouls with the VARS baseline and produces replay-aware, windowed red-box videos that make the contact moment visually inspectable.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54680"/>
            <a:ext cx="32004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73152" cy="1417320"/>
          </a:xfrm>
          <a:prstGeom prst="rect">
            <a:avLst/>
          </a:prstGeom>
          <a:solidFill>
            <a:srgbClr val="277C5B"/>
          </a:solidFill>
          <a:ln>
            <a:solidFill>
              <a:srgbClr val="277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19272"/>
            <a:ext cx="2788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77C5B"/>
                </a:solidFill>
              </a:defRPr>
            </a:pPr>
            <a:r>
              <a:t>Best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21608"/>
            <a:ext cx="2788920" cy="7315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Replay/close-up views are the clearest for contact localization.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3154680"/>
            <a:ext cx="32004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3154680"/>
            <a:ext cx="73152" cy="141732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319272"/>
            <a:ext cx="2788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Best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721608"/>
            <a:ext cx="2788920" cy="7315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Original wide views explain play dynamics but are limited for body contact.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154680"/>
            <a:ext cx="32004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154680"/>
            <a:ext cx="73152" cy="1417320"/>
          </a:xfrm>
          <a:prstGeom prst="rect">
            <a:avLst/>
          </a:prstGeom>
          <a:solidFill>
            <a:srgbClr val="C4262E"/>
          </a:solidFill>
          <a:ln>
            <a:solidFill>
              <a:srgbClr val="C4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319272"/>
            <a:ext cx="2788920" cy="32004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500" b="1">
                <a:solidFill>
                  <a:srgbClr val="C4262E"/>
                </a:solidFill>
              </a:defRPr>
            </a:pPr>
            <a:r>
              <a:t>Best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721608"/>
            <a:ext cx="2788920" cy="73152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>
              <a:defRPr sz="1350" b="0">
                <a:solidFill>
                  <a:srgbClr val="1C252B"/>
                </a:solidFill>
              </a:defRPr>
            </a:pPr>
            <a:r>
              <a:t>Fuse deep predictions, pose tracks, and view ranking over the full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lIns="18288" rIns="18288">
            <a:normAutofit/>
          </a:bodyPr>
          <a:lstStyle/>
          <a:p>
            <a:pPr algn="r">
              <a:defRPr sz="900" b="0">
                <a:solidFill>
                  <a:srgbClr val="57636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