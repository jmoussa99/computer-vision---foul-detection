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Deep-First Foul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VARS baseline + computer vision contact visualization for SoccerNet-MVFoul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669280" cy="9144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2600" b="1">
                <a:solidFill>
                  <a:srgbClr val="1E262C"/>
                </a:solidFill>
              </a:defRPr>
            </a:pPr>
            <a:r>
              <a:t>Goal: detect football fouls and visually show the contact moment that supports the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5303520" cy="7315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700" b="0">
                <a:solidFill>
                  <a:srgbClr val="5B6770"/>
                </a:solidFill>
              </a:defRPr>
            </a:pPr>
            <a:r>
              <a:t>The deep model decides whether the action is a foul; the CV pipeline creates the red-box review evidence.</a:t>
            </a:r>
          </a:p>
        </p:txBody>
      </p:sp>
      <p:pic>
        <p:nvPicPr>
          <p:cNvPr id="7" name="Picture 6" descr="abstrac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334" y="1325880"/>
            <a:ext cx="4294730" cy="4389120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What the project is trying to achieve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08760"/>
            <a:ext cx="347472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E6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73152" cy="3566160"/>
          </a:xfrm>
          <a:prstGeom prst="rect">
            <a:avLst/>
          </a:prstGeom>
          <a:solidFill>
            <a:srgbClr val="255B8E"/>
          </a:solidFill>
          <a:ln>
            <a:solidFill>
              <a:srgbClr val="255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1"/>
            <a:ext cx="3063239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255B8E"/>
                </a:solidFill>
              </a:defRPr>
            </a:pPr>
            <a:r>
              <a:t>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063239" cy="2880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400" b="0">
                <a:solidFill>
                  <a:srgbClr val="1E262C"/>
                </a:solidFill>
              </a:defRPr>
            </a:pPr>
            <a:r>
              <a:t>Classify whether a multi-view football action is an offence and estimate severity/action class.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508760"/>
            <a:ext cx="347472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E6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508760"/>
            <a:ext cx="73152" cy="356616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673351"/>
            <a:ext cx="3063239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C2272D"/>
                </a:solidFill>
              </a:defRPr>
            </a:pPr>
            <a:r>
              <a:t>Visualization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03120"/>
            <a:ext cx="3063239" cy="2880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400" b="0">
                <a:solidFill>
                  <a:srgbClr val="1E262C"/>
                </a:solidFill>
              </a:defRPr>
            </a:pPr>
            <a:r>
              <a:t>Track visible player movement and draw a red contact box at the likely collision/contact moment.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508760"/>
            <a:ext cx="347472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E6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508760"/>
            <a:ext cx="73152" cy="3566160"/>
          </a:xfrm>
          <a:prstGeom prst="rect">
            <a:avLst/>
          </a:prstGeom>
          <a:solidFill>
            <a:srgbClr val="297D5D"/>
          </a:solidFill>
          <a:ln>
            <a:solidFill>
              <a:srgbClr val="297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673351"/>
            <a:ext cx="3063239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297D5D"/>
                </a:solidFill>
              </a:defRPr>
            </a:pPr>
            <a:r>
              <a:t>Review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103120"/>
            <a:ext cx="3063239" cy="2880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400" b="0">
                <a:solidFill>
                  <a:srgbClr val="1E262C"/>
                </a:solidFill>
              </a:defRPr>
            </a:pPr>
            <a:r>
              <a:t>Produce clips/stills that make the model decision easier to inspect, especially on replay or close-up 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Problem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SoccerNet-MVFoul multi-view foul recognition</a:t>
            </a:r>
          </a:p>
        </p:txBody>
      </p:sp>
      <p:pic>
        <p:nvPicPr>
          <p:cNvPr id="5" name="Picture 4" descr="dataset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1627"/>
            <a:ext cx="5120640" cy="2334664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72200" y="14173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3,901 available actions across Train, Valid, Test, and Challenge splits.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Each action has at least two synchronized views: live action plus replay/alternate camera.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Annotations include offence, severity, action class, body part, and additional referee labels.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The visible foul is usually centered near the middle of the clip, so temporal trimming is useful.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Deep-first recognition, CV-first explanation</a:t>
            </a:r>
          </a:p>
        </p:txBody>
      </p:sp>
      <p:pic>
        <p:nvPicPr>
          <p:cNvPr id="5" name="Picture 4" descr="pipeline_mvfou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0793"/>
            <a:ext cx="5212080" cy="2576333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263640" y="1325880"/>
            <a:ext cx="5074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VARS encodes each view with a video backbone such as MViT-v2-S.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View features are aggregated with attention/max/mean pooling.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Two heads predict offence/severity and action class.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The prediction JSON gates the contact visualizer: no predicted foul, no red contact overlay.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CV Contact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How the visualization finds contact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3474720" cy="4069080"/>
          </a:xfrm>
          <a:prstGeom prst="rect">
            <a:avLst/>
          </a:prstGeom>
          <a:solidFill>
            <a:srgbClr val="FFFFFF"/>
          </a:solidFill>
          <a:ln>
            <a:solidFill>
              <a:srgbClr val="E6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73152" cy="4069080"/>
          </a:xfrm>
          <a:prstGeom prst="rect">
            <a:avLst/>
          </a:prstGeom>
          <a:solidFill>
            <a:srgbClr val="BD8B31"/>
          </a:solidFill>
          <a:ln>
            <a:solidFill>
              <a:srgbClr val="BD8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81912"/>
            <a:ext cx="3063239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BD8B31"/>
                </a:solidFill>
              </a:defRPr>
            </a:pPr>
            <a:r>
              <a:t>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3063239" cy="33832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400" b="0">
                <a:solidFill>
                  <a:srgbClr val="1E262C"/>
                </a:solidFill>
              </a:defRPr>
            </a:pPr>
            <a:r>
              <a:t>MOG2 foreground regions identify moving player-like areas. Farneback optical flow measures motion intensity and collision spikes.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417320"/>
            <a:ext cx="3474720" cy="4069080"/>
          </a:xfrm>
          <a:prstGeom prst="rect">
            <a:avLst/>
          </a:prstGeom>
          <a:solidFill>
            <a:srgbClr val="FFFFFF"/>
          </a:solidFill>
          <a:ln>
            <a:solidFill>
              <a:srgbClr val="E6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417320"/>
            <a:ext cx="73152" cy="4069080"/>
          </a:xfrm>
          <a:prstGeom prst="rect">
            <a:avLst/>
          </a:prstGeom>
          <a:solidFill>
            <a:srgbClr val="255B8E"/>
          </a:solidFill>
          <a:ln>
            <a:solidFill>
              <a:srgbClr val="255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81912"/>
            <a:ext cx="3063239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255B8E"/>
                </a:solidFill>
              </a:defRPr>
            </a:pPr>
            <a:r>
              <a:t>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011680"/>
            <a:ext cx="3063239" cy="33832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400" b="0">
                <a:solidFill>
                  <a:srgbClr val="1E262C"/>
                </a:solidFill>
              </a:defRPr>
            </a:pPr>
            <a:r>
              <a:t>A centroid tracker links moving regions over time. Close moving tracks become possible contact candidates.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1417320"/>
            <a:ext cx="3474720" cy="4069080"/>
          </a:xfrm>
          <a:prstGeom prst="rect">
            <a:avLst/>
          </a:prstGeom>
          <a:solidFill>
            <a:srgbClr val="FFFFFF"/>
          </a:solidFill>
          <a:ln>
            <a:solidFill>
              <a:srgbClr val="E6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1417320"/>
            <a:ext cx="73152" cy="406908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581912"/>
            <a:ext cx="3063239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C2272D"/>
                </a:solidFill>
              </a:defRPr>
            </a:pPr>
            <a:r>
              <a:t>Localization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011680"/>
            <a:ext cx="3063239" cy="33832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400" b="0">
                <a:solidFill>
                  <a:srgbClr val="1E262C"/>
                </a:solidFill>
              </a:defRPr>
            </a:pPr>
            <a:r>
              <a:t>Pose keypoints, body-part mapping, and optional deep saliency tighten the red box onto visible player contact.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Pipeline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What happens when a clip is processed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50292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05156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400" b="1">
                <a:solidFill>
                  <a:srgbClr val="1E262C"/>
                </a:solidFill>
              </a:defRPr>
            </a:pPr>
            <a:r>
              <a:t>Run VARS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9" y="2743200"/>
            <a:ext cx="1783080" cy="9144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200" b="0">
                <a:solidFill>
                  <a:srgbClr val="5B6770"/>
                </a:solidFill>
              </a:defRPr>
            </a:pPr>
            <a:r>
              <a:t>Predict offence/severity/action from multi-view video.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99032" y="1810512"/>
            <a:ext cx="1225296" cy="0"/>
          </a:xfrm>
          <a:prstGeom prst="line">
            <a:avLst/>
          </a:prstGeom>
          <a:ln w="25400">
            <a:solidFill>
              <a:srgbClr val="A0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017520" y="1554480"/>
            <a:ext cx="502920" cy="502920"/>
          </a:xfrm>
          <a:prstGeom prst="ellipse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664208"/>
            <a:ext cx="50292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240280"/>
            <a:ext cx="105156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400" b="1">
                <a:solidFill>
                  <a:srgbClr val="1E262C"/>
                </a:solidFill>
              </a:defRPr>
            </a:pPr>
            <a:r>
              <a:t>Gate clips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743200"/>
            <a:ext cx="1783080" cy="9144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200" b="0">
                <a:solidFill>
                  <a:srgbClr val="5B6770"/>
                </a:solidFill>
              </a:defRPr>
            </a:pPr>
            <a:r>
              <a:t>Keep only actions predicted as fouls.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39312" y="1810512"/>
            <a:ext cx="1225296" cy="0"/>
          </a:xfrm>
          <a:prstGeom prst="line">
            <a:avLst/>
          </a:prstGeom>
          <a:ln w="25400">
            <a:solidFill>
              <a:srgbClr val="A0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257800" y="1554480"/>
            <a:ext cx="502920" cy="502920"/>
          </a:xfrm>
          <a:prstGeom prst="ellipse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1664208"/>
            <a:ext cx="50292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240280"/>
            <a:ext cx="105156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400" b="1">
                <a:solidFill>
                  <a:srgbClr val="1E262C"/>
                </a:solidFill>
              </a:defRPr>
            </a:pPr>
            <a:r>
              <a:t>Choose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743200"/>
            <a:ext cx="1783080" cy="9144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200" b="0">
                <a:solidFill>
                  <a:srgbClr val="5B6770"/>
                </a:solidFill>
              </a:defRPr>
            </a:pPr>
            <a:r>
              <a:t>Prefer replay/close-up clips for clearer contact.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79592" y="1810512"/>
            <a:ext cx="1225296" cy="0"/>
          </a:xfrm>
          <a:prstGeom prst="line">
            <a:avLst/>
          </a:prstGeom>
          <a:ln w="25400">
            <a:solidFill>
              <a:srgbClr val="A0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498080" y="1554480"/>
            <a:ext cx="502920" cy="502920"/>
          </a:xfrm>
          <a:prstGeom prst="ellipse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0" y="1664208"/>
            <a:ext cx="50292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240280"/>
            <a:ext cx="105156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400" b="1">
                <a:solidFill>
                  <a:srgbClr val="1E262C"/>
                </a:solidFill>
              </a:defRPr>
            </a:pPr>
            <a:r>
              <a:t>Find contact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743200"/>
            <a:ext cx="1783080" cy="9144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200" b="0">
                <a:solidFill>
                  <a:srgbClr val="5B6770"/>
                </a:solidFill>
              </a:defRPr>
            </a:pPr>
            <a:r>
              <a:t>Use motion, tracking, pose, and optional saliency.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19872" y="1810512"/>
            <a:ext cx="1225296" cy="0"/>
          </a:xfrm>
          <a:prstGeom prst="line">
            <a:avLst/>
          </a:prstGeom>
          <a:ln w="25400">
            <a:solidFill>
              <a:srgbClr val="A0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738360" y="1554480"/>
            <a:ext cx="502920" cy="502920"/>
          </a:xfrm>
          <a:prstGeom prst="ellipse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1664208"/>
            <a:ext cx="50292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240280"/>
            <a:ext cx="105156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400" b="1">
                <a:solidFill>
                  <a:srgbClr val="1E262C"/>
                </a:solidFill>
              </a:defRPr>
            </a:pPr>
            <a:r>
              <a:t>Render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743200"/>
            <a:ext cx="1783080" cy="9144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200" b="0">
                <a:solidFill>
                  <a:srgbClr val="5B6770"/>
                </a:solidFill>
              </a:defRPr>
            </a:pPr>
            <a:r>
              <a:t>Draw red box and pause the video at contact.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92040"/>
            <a:ext cx="10332720" cy="5486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800" b="1">
                <a:solidFill>
                  <a:srgbClr val="1E262C"/>
                </a:solidFill>
              </a:defRPr>
            </a:pPr>
            <a:r>
              <a:t>The model produces the foul decision; CV makes the decision inspectable frame-by-frame.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Results: Contact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Model-gated demo, live view clip 0</a:t>
            </a:r>
          </a:p>
        </p:txBody>
      </p:sp>
      <p:pic>
        <p:nvPicPr>
          <p:cNvPr id="5" name="Picture 4" descr="result_clip0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131562"/>
            <a:ext cx="2660904" cy="1497594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4434840"/>
            <a:ext cx="2660904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start</a:t>
            </a:r>
          </a:p>
        </p:txBody>
      </p:sp>
      <p:pic>
        <p:nvPicPr>
          <p:cNvPr id="7" name="Picture 6" descr="result_clip0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2131562"/>
            <a:ext cx="2660904" cy="1497594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364992" y="4434840"/>
            <a:ext cx="2660904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approach</a:t>
            </a:r>
          </a:p>
        </p:txBody>
      </p:sp>
      <p:pic>
        <p:nvPicPr>
          <p:cNvPr id="9" name="Picture 8" descr="result_clip0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5624" y="2131562"/>
            <a:ext cx="2660904" cy="1497594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135624" y="4434840"/>
            <a:ext cx="2660904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contact cue</a:t>
            </a:r>
          </a:p>
        </p:txBody>
      </p:sp>
      <p:pic>
        <p:nvPicPr>
          <p:cNvPr id="11" name="Picture 10" descr="result_clip0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6256" y="2131562"/>
            <a:ext cx="2660904" cy="1497594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906256" y="4434840"/>
            <a:ext cx="2660904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paused/after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262C"/>
                </a:solidFill>
              </a:defRPr>
            </a:pPr>
            <a:r>
              <a:t>Prediction used for gating: Offence, severity 3.0, action class Tackling.</a:t>
            </a:r>
          </a:p>
          <a:p>
            <a:pPr>
              <a:spcAft>
                <a:spcPts val="800"/>
              </a:spcAft>
              <a:defRPr sz="1600">
                <a:solidFill>
                  <a:srgbClr val="1E262C"/>
                </a:solidFill>
              </a:defRPr>
            </a:pPr>
            <a:r>
              <a:t>The overlay shows red contact boxes only after a foul prediction is present, with a one-second freeze on new contact cues.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Results: Multi-View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Replay/alternate views expose different contact evidence</a:t>
            </a:r>
          </a:p>
        </p:txBody>
      </p:sp>
      <p:pic>
        <p:nvPicPr>
          <p:cNvPr id="5" name="Picture 4" descr="result_clip1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51951"/>
            <a:ext cx="1786127" cy="1005257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3429000"/>
            <a:ext cx="1786127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clip 1 early</a:t>
            </a:r>
          </a:p>
        </p:txBody>
      </p:sp>
      <p:pic>
        <p:nvPicPr>
          <p:cNvPr id="7" name="Picture 6" descr="result_clip1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216" y="1851951"/>
            <a:ext cx="1786127" cy="1005257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490216" y="3429000"/>
            <a:ext cx="1786127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clip 1 contact</a:t>
            </a:r>
          </a:p>
        </p:txBody>
      </p:sp>
      <p:pic>
        <p:nvPicPr>
          <p:cNvPr id="9" name="Picture 8" descr="result_clip1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6072" y="1851951"/>
            <a:ext cx="1786127" cy="1005257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6072" y="3429000"/>
            <a:ext cx="1786127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clip 1 late</a:t>
            </a:r>
          </a:p>
        </p:txBody>
      </p:sp>
      <p:pic>
        <p:nvPicPr>
          <p:cNvPr id="11" name="Picture 10" descr="result_clip2_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886260"/>
            <a:ext cx="1664208" cy="936639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55080" y="3429000"/>
            <a:ext cx="1664208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clip 2 early</a:t>
            </a:r>
          </a:p>
        </p:txBody>
      </p:sp>
      <p:pic>
        <p:nvPicPr>
          <p:cNvPr id="13" name="Picture 12" descr="result_clip2_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9016" y="1886260"/>
            <a:ext cx="1664208" cy="936639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129016" y="3429000"/>
            <a:ext cx="1664208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clip 2 mid</a:t>
            </a:r>
          </a:p>
        </p:txBody>
      </p:sp>
      <p:pic>
        <p:nvPicPr>
          <p:cNvPr id="15" name="Picture 14" descr="result_clip2_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952" y="1886260"/>
            <a:ext cx="1664208" cy="936639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902952" y="3429000"/>
            <a:ext cx="1664208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000" b="0">
                <a:solidFill>
                  <a:srgbClr val="5B6770"/>
                </a:solidFill>
              </a:defRPr>
            </a:pPr>
            <a:r>
              <a:t>clip 2 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5303520" cy="5029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800" b="1">
                <a:solidFill>
                  <a:srgbClr val="1E262C"/>
                </a:solidFill>
              </a:defRPr>
            </a:pPr>
            <a:r>
              <a:t>Clip-level contact features from the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E262C"/>
                </a:solidFill>
              </a:defRPr>
            </a:pPr>
            <a:r>
              <a:t>Clip 0: 2.75 possible contacts/frame; 21 tracked objects.</a:t>
            </a:r>
          </a:p>
          <a:p>
            <a:pPr>
              <a:spcAft>
                <a:spcPts val="800"/>
              </a:spcAft>
              <a:defRPr sz="1400">
                <a:solidFill>
                  <a:srgbClr val="1E262C"/>
                </a:solidFill>
              </a:defRPr>
            </a:pPr>
            <a:r>
              <a:t>Clip 1: 1.00 possible contacts/frame; 12 tracked objects.</a:t>
            </a:r>
          </a:p>
          <a:p>
            <a:pPr>
              <a:spcAft>
                <a:spcPts val="800"/>
              </a:spcAft>
              <a:defRPr sz="1400">
                <a:solidFill>
                  <a:srgbClr val="1E262C"/>
                </a:solidFill>
              </a:defRPr>
            </a:pPr>
            <a:r>
              <a:t>Clip 2: 0.00 possible contacts/frame; 8 tracked objects.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43400"/>
            <a:ext cx="4480560" cy="1051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900" b="1">
                <a:solidFill>
                  <a:srgbClr val="C2272D"/>
                </a:solidFill>
              </a:defRPr>
            </a:pPr>
            <a:r>
              <a:t>Different cameras are useful because the contact can be hidden in one view and clearer in another.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Results: Supporting CV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Earlier visual features retained for explanation and inspection</a:t>
            </a:r>
          </a:p>
        </p:txBody>
      </p:sp>
      <p:pic>
        <p:nvPicPr>
          <p:cNvPr id="5" name="Picture 4" descr="stitch_clip_0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66300"/>
            <a:ext cx="5074920" cy="1428118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pic>
        <p:nvPicPr>
          <p:cNvPr id="6" name="Picture 5" descr="disparity_clip_0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52241"/>
            <a:ext cx="5074920" cy="2856236"/>
          </a:xfrm>
          <a:prstGeom prst="rect">
            <a:avLst/>
          </a:prstGeom>
          <a:ln w="12700">
            <a:solidFill>
              <a:srgbClr val="DAE0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4526280"/>
            <a:ext cx="484632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255B8E"/>
                </a:solidFill>
              </a:defRPr>
            </a:pPr>
            <a:r>
              <a:t>Image stitching / local feature matching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526280"/>
            <a:ext cx="484632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297D5D"/>
                </a:solidFill>
              </a:defRPr>
            </a:pPr>
            <a:r>
              <a:t>Stereo-style disparity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10607040" cy="5486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defRPr sz="1600" b="0">
                <a:solidFill>
                  <a:srgbClr val="5B6770"/>
                </a:solidFill>
              </a:defRPr>
            </a:pPr>
            <a:r>
              <a:t>These are not the final foul detector, but they help explain multi-view geometry and visual evidence around the play.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Result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What is proven locally vs what needs the full GPU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3566160" cy="4251960"/>
          </a:xfrm>
          <a:prstGeom prst="rect">
            <a:avLst/>
          </a:prstGeom>
          <a:solidFill>
            <a:srgbClr val="FFFFFF"/>
          </a:solidFill>
          <a:ln>
            <a:solidFill>
              <a:srgbClr val="E6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73152" cy="4251960"/>
          </a:xfrm>
          <a:prstGeom prst="rect">
            <a:avLst/>
          </a:prstGeom>
          <a:solidFill>
            <a:srgbClr val="297D5D"/>
          </a:solidFill>
          <a:ln>
            <a:solidFill>
              <a:srgbClr val="297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154679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297D5D"/>
                </a:solidFill>
              </a:defRPr>
            </a:pPr>
            <a:r>
              <a:t>Local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154679" cy="3566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400" b="0">
                <a:solidFill>
                  <a:srgbClr val="1E262C"/>
                </a:solidFill>
              </a:defRPr>
            </a:pPr>
            <a:r>
              <a:t>Existing outputs show red-box contact overlays, contact pauses, multi-view clips, stitching, disparity, and feature JSONs for action_0.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417320"/>
            <a:ext cx="3566160" cy="4251960"/>
          </a:xfrm>
          <a:prstGeom prst="rect">
            <a:avLst/>
          </a:prstGeom>
          <a:solidFill>
            <a:srgbClr val="FFFFFF"/>
          </a:solidFill>
          <a:ln>
            <a:solidFill>
              <a:srgbClr val="E6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417320"/>
            <a:ext cx="73152" cy="4251960"/>
          </a:xfrm>
          <a:prstGeom prst="rect">
            <a:avLst/>
          </a:prstGeom>
          <a:solidFill>
            <a:srgbClr val="BD8B31"/>
          </a:solidFill>
          <a:ln>
            <a:solidFill>
              <a:srgbClr val="BD8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581912"/>
            <a:ext cx="3154679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BD8B31"/>
                </a:solidFill>
              </a:defRPr>
            </a:pPr>
            <a:r>
              <a:t>Smoke-Test 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011680"/>
            <a:ext cx="3154679" cy="3566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400" b="0">
                <a:solidFill>
                  <a:srgbClr val="1E262C"/>
                </a:solidFill>
              </a:defRPr>
            </a:pPr>
            <a:r>
              <a:t>The local Random Forest report is 1.0 accuracy on one sample. This only verifies plumbing, not generalization.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3566160" cy="4251960"/>
          </a:xfrm>
          <a:prstGeom prst="rect">
            <a:avLst/>
          </a:prstGeom>
          <a:solidFill>
            <a:srgbClr val="FFFFFF"/>
          </a:solidFill>
          <a:ln>
            <a:solidFill>
              <a:srgbClr val="E6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417320"/>
            <a:ext cx="73152" cy="425196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581912"/>
            <a:ext cx="3154679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500" b="1">
                <a:solidFill>
                  <a:srgbClr val="C2272D"/>
                </a:solidFill>
              </a:defRPr>
            </a:pPr>
            <a:r>
              <a:t>Full Result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011680"/>
            <a:ext cx="3154679" cy="3566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400" b="0">
                <a:solidFill>
                  <a:srgbClr val="1E262C"/>
                </a:solidFill>
              </a:defRPr>
            </a:pPr>
            <a:r>
              <a:t>The full MVFoul train/validation/test evaluation must run on the GPU machine where the dataset is stored.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2272D"/>
          </a:solidFill>
          <a:ln>
            <a:solidFill>
              <a:srgbClr val="C2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62C"/>
                </a:solidFill>
              </a:defRPr>
            </a:pPr>
            <a:r>
              <a:t>One-Month Improvement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0"/>
                </a:solidFill>
              </a:defRPr>
            </a:pPr>
            <a:r>
              <a:t>How to make the result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Run full VARS training/evaluation on the GPU machine and report official SoccerNet metrics.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Tune contact thresholds and pose gates on the validation split instead of one demo action.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Use replay-aware view selection and compare live vs replay contact localization quality.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Add quantitative contact-localization metrics using body-part labels and manual spot checks.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Improve contact boxes with tracked pose tubes rather than independent per-frame poses.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Use deep saliency more consistently to align the red box with the evidence driving the foul prediction.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Package the output into the VARS interface so reviewers can scrub clips and inspect the contact pause.</a:t>
            </a:r>
          </a:p>
          <a:p>
            <a:pPr>
              <a:spcAft>
                <a:spcPts val="800"/>
              </a:spcAft>
              <a:defRPr sz="1700">
                <a:solidFill>
                  <a:srgbClr val="1E262C"/>
                </a:solidFill>
              </a:defRPr>
            </a:pPr>
            <a:r>
              <a:t>Create an error taxonomy: occlusion, camera angle, bad pose, non-contact foul, and model false positive.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77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