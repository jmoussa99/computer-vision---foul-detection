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jpg"/><Relationship Id="rId5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7" Type="http://schemas.openxmlformats.org/officeDocument/2006/relationships/image" Target="../media/image1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Relationship Id="rId5" Type="http://schemas.openxmlformats.org/officeDocument/2006/relationships/image" Target="../media/image19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Deep-First Foul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VARS baseline + computer vision contact visualization for SoccerNet-MVFoul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56692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2600" b="1">
                <a:solidFill>
                  <a:srgbClr val="1E262C"/>
                </a:solidFill>
              </a:defRPr>
            </a:pPr>
            <a:r>
              <a:t>Goal: detect football fouls and visually show the contact moment that supports the decision.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063240"/>
            <a:ext cx="5303520" cy="7315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700" b="0">
                <a:solidFill>
                  <a:srgbClr val="5B6770"/>
                </a:solidFill>
              </a:defRPr>
            </a:pPr>
            <a:r>
              <a:t>The deep model decides whether the action is a foul; the CV pipeline creates the red-box review evidence.</a:t>
            </a:r>
          </a:p>
        </p:txBody>
      </p:sp>
      <p:pic>
        <p:nvPicPr>
          <p:cNvPr id="7" name="Picture 6" descr="abstract_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334" y="1325880"/>
            <a:ext cx="4294730" cy="4389120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What the project is trying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08760"/>
            <a:ext cx="34747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508760"/>
            <a:ext cx="73152" cy="356616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73351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Recognition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03120"/>
            <a:ext cx="3063239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Classify whether a multi-view football action is an offence and estimate severity/action class.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508760"/>
            <a:ext cx="34747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73152" cy="356616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673351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C2272D"/>
                </a:solidFill>
              </a:defRPr>
            </a:pPr>
            <a:r>
              <a:t>Visualization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103120"/>
            <a:ext cx="3063239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Track visible player movement and draw a red contact box at the likely collision/contact moment.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508760"/>
            <a:ext cx="3474720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508760"/>
            <a:ext cx="73152" cy="3566160"/>
          </a:xfrm>
          <a:prstGeom prst="rect">
            <a:avLst/>
          </a:prstGeom>
          <a:solidFill>
            <a:srgbClr val="297D5D"/>
          </a:solidFill>
          <a:ln>
            <a:solidFill>
              <a:srgbClr val="29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673351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97D5D"/>
                </a:solidFill>
              </a:defRPr>
            </a:pPr>
            <a:r>
              <a:t>Review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103120"/>
            <a:ext cx="3063239" cy="28803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Produce clips/stills that make the model decision easier to inspect, especially on replay or close-up views.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Problem Setting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SoccerNet-MVFoul multi-view foul recognition</a:t>
            </a:r>
          </a:p>
        </p:txBody>
      </p:sp>
      <p:pic>
        <p:nvPicPr>
          <p:cNvPr id="5" name="Picture 4" descr="dataset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41627"/>
            <a:ext cx="5120640" cy="2334664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172200" y="14173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3,901 available actions across Train, Valid, Test, and Challenge splits.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Each action has at least two synchronized views: live action plus replay/alternate camera.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Annotations include offence, severity, action class, body part, and additional referee labels.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The visible foul is usually centered near the middle of the clip, so temporal trimming is useful.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Deep-first recognition, CV-first explanation</a:t>
            </a:r>
          </a:p>
        </p:txBody>
      </p:sp>
      <p:pic>
        <p:nvPicPr>
          <p:cNvPr id="5" name="Picture 4" descr="pipeline_mvfou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820793"/>
            <a:ext cx="5212080" cy="2576333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263640" y="1325880"/>
            <a:ext cx="5074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VARS encodes each view with a video backbone such as MViT-v2-S.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View features are aggregated with attention/max/mean pooling.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Two heads predict offence/severity and action class.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The prediction JSON gates the contact visualizer: no predicted foul, no red contact overlay.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CV Contact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How the visualization finds contact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34747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73152" cy="4069080"/>
          </a:xfrm>
          <a:prstGeom prst="rect">
            <a:avLst/>
          </a:prstGeom>
          <a:solidFill>
            <a:srgbClr val="BD8B31"/>
          </a:solidFill>
          <a:ln>
            <a:solidFill>
              <a:srgbClr val="BD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D8B31"/>
                </a:solidFill>
              </a:defRPr>
            </a:pPr>
            <a:r>
              <a:t>Motion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11680"/>
            <a:ext cx="3063239" cy="3383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MOG2 foreground regions identify moving player-like areas. Farneback optical flow measures motion intensity and collision spikes.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417320"/>
            <a:ext cx="34747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1960" y="1417320"/>
            <a:ext cx="73152" cy="4069080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581912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Tracking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011680"/>
            <a:ext cx="3063239" cy="3383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A centroid tracker links moving regions over time. Close moving tracks become possible contact candidates.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1417320"/>
            <a:ext cx="3474720" cy="406908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63840" y="1417320"/>
            <a:ext cx="73152" cy="406908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581912"/>
            <a:ext cx="306323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C2272D"/>
                </a:solidFill>
              </a:defRPr>
            </a:pPr>
            <a:r>
              <a:t>Localization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2011680"/>
            <a:ext cx="3063239" cy="338328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Pose keypoints, body-part mapping, and optional deep saliency tighten the red box onto visible player contact.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Pipeline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What happens when a clip is processed</a:t>
            </a:r>
          </a:p>
        </p:txBody>
      </p:sp>
      <p:sp>
        <p:nvSpPr>
          <p:cNvPr id="5" name="Oval 4"/>
          <p:cNvSpPr/>
          <p:nvPr/>
        </p:nvSpPr>
        <p:spPr>
          <a:xfrm>
            <a:off x="777240" y="1554480"/>
            <a:ext cx="502920" cy="502920"/>
          </a:xfrm>
          <a:prstGeom prst="ellipse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64208"/>
            <a:ext cx="502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E262C"/>
                </a:solidFill>
              </a:defRPr>
            </a:pPr>
            <a:r>
              <a:t>Run VARS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79" y="2743200"/>
            <a:ext cx="17830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5B6770"/>
                </a:solidFill>
              </a:defRPr>
            </a:pPr>
            <a:r>
              <a:t>Predict offence/severity/action from multi-view video.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399032" y="1810512"/>
            <a:ext cx="1225296" cy="0"/>
          </a:xfrm>
          <a:prstGeom prst="line">
            <a:avLst/>
          </a:prstGeom>
          <a:ln w="25400">
            <a:solidFill>
              <a:srgbClr val="A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3017520" y="1554480"/>
            <a:ext cx="502920" cy="502920"/>
          </a:xfrm>
          <a:prstGeom prst="ellipse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0" y="1664208"/>
            <a:ext cx="502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240280"/>
            <a:ext cx="1051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E262C"/>
                </a:solidFill>
              </a:defRPr>
            </a:pPr>
            <a:r>
              <a:t>Gate clips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2743200"/>
            <a:ext cx="17830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5B6770"/>
                </a:solidFill>
              </a:defRPr>
            </a:pPr>
            <a:r>
              <a:t>Keep only actions predicted as fouls.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39312" y="1810512"/>
            <a:ext cx="1225296" cy="0"/>
          </a:xfrm>
          <a:prstGeom prst="line">
            <a:avLst/>
          </a:prstGeom>
          <a:ln w="25400">
            <a:solidFill>
              <a:srgbClr val="A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5257800" y="1554480"/>
            <a:ext cx="502920" cy="502920"/>
          </a:xfrm>
          <a:prstGeom prst="ellipse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1664208"/>
            <a:ext cx="502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240280"/>
            <a:ext cx="1051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E262C"/>
                </a:solidFill>
              </a:defRPr>
            </a:pPr>
            <a:r>
              <a:t>Choose view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743200"/>
            <a:ext cx="17830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5B6770"/>
                </a:solidFill>
              </a:defRPr>
            </a:pPr>
            <a:r>
              <a:t>Prefer replay/close-up clips for clearer contact.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879592" y="1810512"/>
            <a:ext cx="1225296" cy="0"/>
          </a:xfrm>
          <a:prstGeom prst="line">
            <a:avLst/>
          </a:prstGeom>
          <a:ln w="25400">
            <a:solidFill>
              <a:srgbClr val="A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7498080" y="1554480"/>
            <a:ext cx="502920" cy="502920"/>
          </a:xfrm>
          <a:prstGeom prst="ellipse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664208"/>
            <a:ext cx="502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240280"/>
            <a:ext cx="1051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E262C"/>
                </a:solidFill>
              </a:defRPr>
            </a:pPr>
            <a:r>
              <a:t>Find contact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743200"/>
            <a:ext cx="17830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5B6770"/>
                </a:solidFill>
              </a:defRPr>
            </a:pPr>
            <a:r>
              <a:t>Use motion, tracking, pose, and optional saliency.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119872" y="1810512"/>
            <a:ext cx="1225296" cy="0"/>
          </a:xfrm>
          <a:prstGeom prst="line">
            <a:avLst/>
          </a:prstGeom>
          <a:ln w="25400">
            <a:solidFill>
              <a:srgbClr val="A0A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9738360" y="1554480"/>
            <a:ext cx="502920" cy="502920"/>
          </a:xfrm>
          <a:prstGeom prst="ellipse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38360" y="1664208"/>
            <a:ext cx="50292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2240280"/>
            <a:ext cx="105156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400" b="1">
                <a:solidFill>
                  <a:srgbClr val="1E262C"/>
                </a:solidFill>
              </a:defRPr>
            </a:pPr>
            <a:r>
              <a:t>Render result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743200"/>
            <a:ext cx="1783080" cy="9144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200" b="0">
                <a:solidFill>
                  <a:srgbClr val="5B6770"/>
                </a:solidFill>
              </a:defRPr>
            </a:pPr>
            <a:r>
              <a:t>Draw red box and pause the video at contact.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4892040"/>
            <a:ext cx="1033272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800" b="1">
                <a:solidFill>
                  <a:srgbClr val="1E262C"/>
                </a:solidFill>
              </a:defRPr>
            </a:pPr>
            <a:r>
              <a:t>The model produces the foul decision; CV makes the decision inspectable frame-by-frame.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Results: Contact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Model-gated demo, live view clip 0</a:t>
            </a:r>
          </a:p>
        </p:txBody>
      </p:sp>
      <p:pic>
        <p:nvPicPr>
          <p:cNvPr id="5" name="Picture 4" descr="result_clip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31562"/>
            <a:ext cx="2660904" cy="1497594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443484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start</a:t>
            </a:r>
          </a:p>
        </p:txBody>
      </p:sp>
      <p:pic>
        <p:nvPicPr>
          <p:cNvPr id="7" name="Picture 6" descr="result_clip0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131562"/>
            <a:ext cx="2660904" cy="1497594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364992" y="443484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approach</a:t>
            </a:r>
          </a:p>
        </p:txBody>
      </p:sp>
      <p:pic>
        <p:nvPicPr>
          <p:cNvPr id="9" name="Picture 8" descr="result_clip0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2131562"/>
            <a:ext cx="2660904" cy="1497594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35624" y="443484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contact cue</a:t>
            </a:r>
          </a:p>
        </p:txBody>
      </p:sp>
      <p:pic>
        <p:nvPicPr>
          <p:cNvPr id="11" name="Picture 10" descr="result_clip0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2131562"/>
            <a:ext cx="2660904" cy="1497594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906256" y="443484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paused/after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9834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1E262C"/>
                </a:solidFill>
              </a:defRPr>
            </a:pPr>
            <a:r>
              <a:t>Prediction used for gating: Offence, severity 3.0, action class Tackling.</a:t>
            </a:r>
          </a:p>
          <a:p>
            <a:pPr>
              <a:spcAft>
                <a:spcPts val="800"/>
              </a:spcAft>
              <a:defRPr sz="1600">
                <a:solidFill>
                  <a:srgbClr val="1E262C"/>
                </a:solidFill>
              </a:defRPr>
            </a:pPr>
            <a:r>
              <a:t>The overlay shows red contact boxes only after a foul prediction is present, with a one-second freeze on new contact cues.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Results: Multi-View Sequences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Replay/alternate views expose different contact evidence</a:t>
            </a:r>
          </a:p>
        </p:txBody>
      </p:sp>
      <p:pic>
        <p:nvPicPr>
          <p:cNvPr id="5" name="Picture 4" descr="result_clip1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51951"/>
            <a:ext cx="1786127" cy="1005257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3429000"/>
            <a:ext cx="1786127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1 early</a:t>
            </a:r>
          </a:p>
        </p:txBody>
      </p:sp>
      <p:pic>
        <p:nvPicPr>
          <p:cNvPr id="7" name="Picture 6" descr="result_clip1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0216" y="1851951"/>
            <a:ext cx="1786127" cy="1005257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490216" y="3429000"/>
            <a:ext cx="1786127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1 contact</a:t>
            </a:r>
          </a:p>
        </p:txBody>
      </p:sp>
      <p:pic>
        <p:nvPicPr>
          <p:cNvPr id="9" name="Picture 8" descr="result_clip1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6072" y="1851951"/>
            <a:ext cx="1786127" cy="1005257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386072" y="3429000"/>
            <a:ext cx="1786127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1 late</a:t>
            </a:r>
          </a:p>
        </p:txBody>
      </p:sp>
      <p:pic>
        <p:nvPicPr>
          <p:cNvPr id="11" name="Picture 10" descr="result_clip2_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886260"/>
            <a:ext cx="1664208" cy="936639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6355080" y="3429000"/>
            <a:ext cx="166420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2 early</a:t>
            </a:r>
          </a:p>
        </p:txBody>
      </p:sp>
      <p:pic>
        <p:nvPicPr>
          <p:cNvPr id="13" name="Picture 12" descr="result_clip2_2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9016" y="1886260"/>
            <a:ext cx="1664208" cy="936639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8129016" y="3429000"/>
            <a:ext cx="166420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2 mid</a:t>
            </a:r>
          </a:p>
        </p:txBody>
      </p:sp>
      <p:pic>
        <p:nvPicPr>
          <p:cNvPr id="15" name="Picture 14" descr="result_clip2_3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02952" y="1886260"/>
            <a:ext cx="1664208" cy="936639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9902952" y="3429000"/>
            <a:ext cx="1664208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clip 2 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5303520" cy="50292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800" b="1">
                <a:solidFill>
                  <a:srgbClr val="1E262C"/>
                </a:solidFill>
              </a:defRPr>
            </a:pPr>
            <a:r>
              <a:t>Clip-level contact features from the demo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7091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1E262C"/>
                </a:solidFill>
              </a:defRPr>
            </a:pPr>
            <a:r>
              <a:t>Clip 0: 2.75 possible contacts/frame; 21 tracked objects.</a:t>
            </a:r>
          </a:p>
          <a:p>
            <a:pPr>
              <a:spcAft>
                <a:spcPts val="800"/>
              </a:spcAft>
              <a:defRPr sz="1400">
                <a:solidFill>
                  <a:srgbClr val="1E262C"/>
                </a:solidFill>
              </a:defRPr>
            </a:pPr>
            <a:r>
              <a:t>Clip 1: 1.00 possible contacts/frame; 12 tracked objects.</a:t>
            </a:r>
          </a:p>
          <a:p>
            <a:pPr>
              <a:spcAft>
                <a:spcPts val="800"/>
              </a:spcAft>
              <a:defRPr sz="1400">
                <a:solidFill>
                  <a:srgbClr val="1E262C"/>
                </a:solidFill>
              </a:defRPr>
            </a:pPr>
            <a:r>
              <a:t>Clip 2: 0.00 possible contacts/frame; 8 tracked objects.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343400"/>
            <a:ext cx="4480560" cy="10515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900" b="1">
                <a:solidFill>
                  <a:srgbClr val="C2272D"/>
                </a:solidFill>
              </a:defRPr>
            </a:pPr>
            <a:r>
              <a:t>Different cameras are useful because the contact can be hidden in one view and clearer in another.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Results: Supporting CV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Earlier visual features retained for explanation and inspection</a:t>
            </a:r>
          </a:p>
        </p:txBody>
      </p:sp>
      <p:pic>
        <p:nvPicPr>
          <p:cNvPr id="5" name="Picture 4" descr="stitch_clip_0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66300"/>
            <a:ext cx="5074920" cy="1428118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pic>
        <p:nvPicPr>
          <p:cNvPr id="6" name="Picture 5" descr="disparity_clip_0_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452241"/>
            <a:ext cx="5074920" cy="2856236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822960" y="4526280"/>
            <a:ext cx="48463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Image stitching / local feature matching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526280"/>
            <a:ext cx="4846320" cy="3657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97D5D"/>
                </a:solidFill>
              </a:defRPr>
            </a:pPr>
            <a:r>
              <a:t>Stereo-style disparity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66360"/>
            <a:ext cx="10607040" cy="5486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600" b="0">
                <a:solidFill>
                  <a:srgbClr val="5B6770"/>
                </a:solidFill>
              </a:defRPr>
            </a:pPr>
            <a:r>
              <a:t>These are not the final foul detector, but they help explain multi-view geometry and visual evidence around the play.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Result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What is proven locally vs what needs the full GPU dataset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417320"/>
            <a:ext cx="35661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417320"/>
            <a:ext cx="73152" cy="4251960"/>
          </a:xfrm>
          <a:prstGeom prst="rect">
            <a:avLst/>
          </a:prstGeom>
          <a:solidFill>
            <a:srgbClr val="297D5D"/>
          </a:solidFill>
          <a:ln>
            <a:solidFill>
              <a:srgbClr val="29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81912"/>
            <a:ext cx="31546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97D5D"/>
                </a:solidFill>
              </a:defRPr>
            </a:pPr>
            <a:r>
              <a:t>Local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3154679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Existing outputs show red-box contact overlays, contact pauses, multi-view clips, stitching, disparity, and feature JSONs for action_0.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35661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34840" y="1417320"/>
            <a:ext cx="73152" cy="4251960"/>
          </a:xfrm>
          <a:prstGeom prst="rect">
            <a:avLst/>
          </a:prstGeom>
          <a:solidFill>
            <a:srgbClr val="BD8B31"/>
          </a:solidFill>
          <a:ln>
            <a:solidFill>
              <a:srgbClr val="BD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81912"/>
            <a:ext cx="31546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D8B31"/>
                </a:solidFill>
              </a:defRPr>
            </a:pPr>
            <a:r>
              <a:t>Smoke-Test Metric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11680"/>
            <a:ext cx="3154679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The local Random Forest report is 1.0 accuracy on one sample. This only verifies plumbing, not generalization.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79" y="1417320"/>
            <a:ext cx="356616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83879" y="1417320"/>
            <a:ext cx="73152" cy="425196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581912"/>
            <a:ext cx="31546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C2272D"/>
                </a:solidFill>
              </a:defRPr>
            </a:pPr>
            <a:r>
              <a:t>Full Result Needed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011680"/>
            <a:ext cx="3154679" cy="356616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The full MVFoul train/validation/test evaluation must run on the GPU machine where the dataset is stored.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000">
                <a:solidFill>
                  <a:srgbClr val="1E262C"/>
                </a:solidFill>
              </a:defRPr>
            </a:pPr>
            <a:r>
              <a:t>One-Month Improvement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B6770"/>
                </a:solidFill>
              </a:defRPr>
            </a:pPr>
            <a:r>
              <a:t>How to make the result stronger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Run full VARS training/evaluation on the GPU machine and report official SoccerNet metrics.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Tune contact thresholds and pose gates on the validation split instead of one demo action.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Use replay-aware view selection and compare live vs replay contact localization quality.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Add quantitative contact-localization metrics using body-part labels and manual spot checks.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Improve contact boxes with tracked pose tubes rather than independent per-frame poses.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Use deep saliency more consistently to align the red box with the evidence driving the foul prediction.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Package the output into the VARS interface so reviewers can scrub clips and inspect the contact pause.</a:t>
            </a:r>
          </a:p>
          <a:p>
            <a:pPr>
              <a:spcAft>
                <a:spcPts val="800"/>
              </a:spcAft>
              <a:defRPr sz="1700">
                <a:solidFill>
                  <a:srgbClr val="1E262C"/>
                </a:solidFill>
              </a:defRPr>
            </a:pPr>
            <a:r>
              <a:t>Create an error taxonomy: occlusion, camera angle, bad pose, non-contact foul, and model false positive.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77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000" b="1">
                <a:solidFill>
                  <a:srgbClr val="1E262C"/>
                </a:solidFill>
              </a:defRPr>
            </a:pPr>
            <a:r>
              <a:t>Results: Smoother Replay Contact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5B6770"/>
                </a:solidFill>
              </a:defRPr>
            </a:pPr>
            <a:r>
              <a:t>New output: foul_bodypart_replay_video_smoother</a:t>
            </a:r>
          </a:p>
        </p:txBody>
      </p:sp>
      <p:pic>
        <p:nvPicPr>
          <p:cNvPr id="5" name="Picture 4" descr="smoother_action_0_seq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109120"/>
            <a:ext cx="2660904" cy="1496758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94360" y="438912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before replay contact</a:t>
            </a:r>
          </a:p>
        </p:txBody>
      </p:sp>
      <p:pic>
        <p:nvPicPr>
          <p:cNvPr id="7" name="Picture 6" descr="smoother_action_0_seq_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4992" y="2109120"/>
            <a:ext cx="2660904" cy="1496758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3364992" y="438912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players converge</a:t>
            </a:r>
          </a:p>
        </p:txBody>
      </p:sp>
      <p:pic>
        <p:nvPicPr>
          <p:cNvPr id="9" name="Picture 8" descr="smoother_action_0_seq_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4" y="2109120"/>
            <a:ext cx="2660904" cy="1496758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35624" y="438912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contact frame 24</a:t>
            </a:r>
          </a:p>
        </p:txBody>
      </p:sp>
      <p:pic>
        <p:nvPicPr>
          <p:cNvPr id="11" name="Picture 10" descr="smoother_action_0_seq_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6256" y="2109120"/>
            <a:ext cx="2660904" cy="1496758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8906256" y="4389120"/>
            <a:ext cx="2660904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overlay continues smoothly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892040"/>
            <a:ext cx="6766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E262C"/>
                </a:solidFill>
              </a:defRPr>
            </a:pPr>
            <a:r>
              <a:t>Action 0 selected replay, close-up view (Close-up player or field referee).</a:t>
            </a:r>
          </a:p>
          <a:p>
            <a:pPr>
              <a:spcAft>
                <a:spcPts val="700"/>
              </a:spcAft>
              <a:defRPr sz="1500">
                <a:solidFill>
                  <a:srgbClr val="1E262C"/>
                </a:solidFill>
              </a:defRPr>
            </a:pPr>
            <a:r>
              <a:t>Deep prediction: Offence, severity 1.0, action Holding.</a:t>
            </a:r>
          </a:p>
          <a:p>
            <a:pPr>
              <a:spcAft>
                <a:spcPts val="700"/>
              </a:spcAft>
              <a:defRPr sz="1500">
                <a:solidFill>
                  <a:srgbClr val="1E262C"/>
                </a:solidFill>
              </a:defRPr>
            </a:pPr>
            <a:r>
              <a:t>Pose contact maps the red box to arm / Upper body with 8 players detected.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4709160"/>
            <a:ext cx="338328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09560" y="4709160"/>
            <a:ext cx="73152" cy="1143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4873752"/>
            <a:ext cx="2971800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C2272D"/>
                </a:solidFill>
              </a:defRPr>
            </a:pPr>
            <a:r>
              <a:t>Why it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38160" y="5294376"/>
            <a:ext cx="2971800" cy="4572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The replay/close-up view makes the contact box easier to inspect than the broadcast-wide live view.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00" b="0">
                <a:solidFill>
                  <a:srgbClr val="5B677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2272D"/>
          </a:solidFill>
          <a:ln>
            <a:solidFill>
              <a:srgbClr val="C227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10972800" cy="658368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3000" b="1">
                <a:solidFill>
                  <a:srgbClr val="1E262C"/>
                </a:solidFill>
              </a:defRPr>
            </a:pPr>
            <a:r>
              <a:t>Results: Body-Part Replay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960120"/>
            <a:ext cx="10515600" cy="347472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300" b="0">
                <a:solidFill>
                  <a:srgbClr val="5B6770"/>
                </a:solidFill>
              </a:defRPr>
            </a:pPr>
            <a:r>
              <a:t>Five validation replay/close-up examples with smoother foul overlays</a:t>
            </a:r>
          </a:p>
        </p:txBody>
      </p:sp>
      <p:pic>
        <p:nvPicPr>
          <p:cNvPr id="5" name="Picture 4" descr="contact_bodyp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30178"/>
            <a:ext cx="2148840" cy="1208722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66928" y="2779776"/>
            <a:ext cx="214884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A0: arm</a:t>
            </a:r>
          </a:p>
        </p:txBody>
      </p:sp>
      <p:pic>
        <p:nvPicPr>
          <p:cNvPr id="7" name="Picture 6" descr="contact_bodyp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5496" y="1430178"/>
            <a:ext cx="2148840" cy="1208722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2825496" y="2779776"/>
            <a:ext cx="214884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A3: back/torso</a:t>
            </a:r>
          </a:p>
        </p:txBody>
      </p:sp>
      <p:pic>
        <p:nvPicPr>
          <p:cNvPr id="9" name="Picture 8" descr="contact_bodyp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1430178"/>
            <a:ext cx="2148840" cy="1208722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5084064" y="2779776"/>
            <a:ext cx="214884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A8: arm</a:t>
            </a:r>
          </a:p>
        </p:txBody>
      </p:sp>
      <p:pic>
        <p:nvPicPr>
          <p:cNvPr id="11" name="Picture 10" descr="contact_bodyp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631" y="1430178"/>
            <a:ext cx="2148840" cy="1208722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2" name="TextBox 11"/>
          <p:cNvSpPr txBox="1"/>
          <p:nvPr/>
        </p:nvSpPr>
        <p:spPr>
          <a:xfrm>
            <a:off x="7342631" y="2779776"/>
            <a:ext cx="214884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A10: arm</a:t>
            </a:r>
          </a:p>
        </p:txBody>
      </p:sp>
      <p:pic>
        <p:nvPicPr>
          <p:cNvPr id="13" name="Picture 12" descr="contact_bodyp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1430178"/>
            <a:ext cx="2148840" cy="1208722"/>
          </a:xfrm>
          <a:prstGeom prst="rect">
            <a:avLst/>
          </a:prstGeom>
          <a:ln w="12700">
            <a:solidFill>
              <a:srgbClr val="DAE0DB"/>
            </a:solidFill>
          </a:ln>
        </p:spPr>
      </p:pic>
      <p:sp>
        <p:nvSpPr>
          <p:cNvPr id="14" name="TextBox 13"/>
          <p:cNvSpPr txBox="1"/>
          <p:nvPr/>
        </p:nvSpPr>
        <p:spPr>
          <a:xfrm>
            <a:off x="9601200" y="2779776"/>
            <a:ext cx="2148840" cy="21945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ctr">
              <a:defRPr sz="1000" b="0">
                <a:solidFill>
                  <a:srgbClr val="5B6770"/>
                </a:solidFill>
              </a:defRPr>
            </a:pPr>
            <a:r>
              <a:t>A12: 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657600"/>
            <a:ext cx="333756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85800" y="3657600"/>
            <a:ext cx="73152" cy="1874519"/>
          </a:xfrm>
          <a:prstGeom prst="rect">
            <a:avLst/>
          </a:prstGeom>
          <a:solidFill>
            <a:srgbClr val="255B8E"/>
          </a:solidFill>
          <a:ln>
            <a:solidFill>
              <a:srgbClr val="255B8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822191"/>
            <a:ext cx="29260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55B8E"/>
                </a:solidFill>
              </a:defRPr>
            </a:pPr>
            <a:r>
              <a:t>Pose/CV Body Part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42816"/>
            <a:ext cx="2926079" cy="11887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60% coarse accuracy on 5 validation examples. It correctly keeps all Upper-body examples, but misses two Under-body cases as Upper-body.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3657600"/>
            <a:ext cx="333756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43400" y="3657600"/>
            <a:ext cx="73152" cy="1874519"/>
          </a:xfrm>
          <a:prstGeom prst="rect">
            <a:avLst/>
          </a:prstGeom>
          <a:solidFill>
            <a:srgbClr val="297D5D"/>
          </a:solidFill>
          <a:ln>
            <a:solidFill>
              <a:srgbClr val="297D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822191"/>
            <a:ext cx="29260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297D5D"/>
                </a:solidFill>
              </a:defRPr>
            </a:pPr>
            <a:r>
              <a:t>Deep Body-Part Head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242816"/>
            <a:ext cx="2926079" cy="11887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80% coarse accuracy on 5 examples. This improves one Under-body case while still showing class imbalance toward Upper-body.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1000" y="3657600"/>
            <a:ext cx="3337560" cy="1874519"/>
          </a:xfrm>
          <a:prstGeom prst="rect">
            <a:avLst/>
          </a:prstGeom>
          <a:solidFill>
            <a:srgbClr val="FFFFFF"/>
          </a:solidFill>
          <a:ln>
            <a:solidFill>
              <a:srgbClr val="E6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01000" y="3657600"/>
            <a:ext cx="73152" cy="1874519"/>
          </a:xfrm>
          <a:prstGeom prst="rect">
            <a:avLst/>
          </a:prstGeom>
          <a:solidFill>
            <a:srgbClr val="BD8B31"/>
          </a:solidFill>
          <a:ln>
            <a:solidFill>
              <a:srgbClr val="BD8B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3822191"/>
            <a:ext cx="2926079" cy="32004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500" b="1">
                <a:solidFill>
                  <a:srgbClr val="BD8B31"/>
                </a:solidFill>
              </a:defRPr>
            </a:pPr>
            <a:r>
              <a:t>Current Limitation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242816"/>
            <a:ext cx="2926079" cy="118871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>
              <a:defRPr sz="1400" b="0">
                <a:solidFill>
                  <a:srgbClr val="1E262C"/>
                </a:solidFill>
              </a:defRPr>
            </a:pPr>
            <a:r>
              <a:t>The smoother overlay is visually clearer, but five examples are still too small for a final claim. The next step is full validation/test evaluation.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914400" cy="2286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algn="r">
              <a:defRPr sz="900" b="0">
                <a:solidFill>
                  <a:srgbClr val="5B6770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